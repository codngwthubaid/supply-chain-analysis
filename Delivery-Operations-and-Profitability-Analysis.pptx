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Outfit ExtraBold"/>
      <p:regular r:id="rId201314"/>
    </p:embeddedFont>
    <p:embeddedFont>
      <p:font typeface="Arimo"/>
      <p:regular r:id="rId201315"/>
    </p:embeddedFont>
    <p:embeddedFont>
      <p:font typeface="Arimo Bol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pn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Shape 0"/>
          <p:cNvSpPr/>
          <p:nvPr/>
        </p:nvSpPr>
        <p:spPr>
          <a:xfrm>
            <a:off x="0" y="0"/>
            <a:ext cx="9144000" cy="5143500"/>
          </a:xfrm>
          <a:prstGeom prst="rect">
            <a:avLst/>
          </a:prstGeom>
          <a:solidFill>
            <a:srgbClr val="FAFAFA">
              <a:alpha val="95000"/>
            </a:srgbClr>
          </a:solidFill>
          <a:ln/>
        </p:spPr>
      </p:sp>
      <p:pic>
        <p:nvPicPr>
          <p:cNvPr id="4" name="Image 1" descr="preencoded.png">
            <a:hlinkClick r:id="rId3" tooltip=""/>
          </p:cNvPr>
          <p:cNvPicPr>
            <a:picLocks noChangeAspect="1"/>
          </p:cNvPicPr>
          <p:nvPr/>
        </p:nvPicPr>
        <p:blipFill>
          <a:blip r:embed="rId2"/>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slideLayout" Target="../slideLayouts/slideLayout2.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image" Target="../media/image-7-3.png"/><Relationship Id="rId4" Type="http://schemas.openxmlformats.org/officeDocument/2006/relationships/image" Target="../media/image-7-4.svg"/><Relationship Id="rId5" Type="http://schemas.openxmlformats.org/officeDocument/2006/relationships/image" Target="../media/image-7-5.png"/><Relationship Id="rId6" Type="http://schemas.openxmlformats.org/officeDocument/2006/relationships/image" Target="../media/image-7-6.svg"/><Relationship Id="rId7" Type="http://schemas.openxmlformats.org/officeDocument/2006/relationships/image" Target="../media/image-7-7.png"/><Relationship Id="rId8" Type="http://schemas.openxmlformats.org/officeDocument/2006/relationships/image" Target="../media/image-7-8.svg"/><Relationship Id="rId9" Type="http://schemas.openxmlformats.org/officeDocument/2006/relationships/slideLayout" Target="../slideLayouts/slideLayout2.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Text 0"/>
          <p:cNvSpPr/>
          <p:nvPr/>
        </p:nvSpPr>
        <p:spPr>
          <a:xfrm>
            <a:off x="496119" y="1549226"/>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231971"/>
                </a:solidFill>
                <a:latin typeface="Outfit ExtraBold" pitchFamily="34" charset="0"/>
                <a:ea typeface="Outfit ExtraBold" pitchFamily="34" charset="-122"/>
                <a:cs typeface="Outfit ExtraBold" pitchFamily="34" charset="-120"/>
              </a:rPr>
              <a:t>Delivery Operations &amp; Profitability Analysis</a:t>
            </a:r>
            <a:endParaRPr lang="en-US" sz="2400" dirty="0"/>
          </a:p>
        </p:txBody>
      </p:sp>
      <p:sp>
        <p:nvSpPr>
          <p:cNvPr id="4" name="Text 1"/>
          <p:cNvSpPr/>
          <p:nvPr/>
        </p:nvSpPr>
        <p:spPr>
          <a:xfrm>
            <a:off x="496119" y="2510358"/>
            <a:ext cx="4722763" cy="396925"/>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Root-Cause Analysis of Late Deliveries and Their Financial Impact, Jan 2015 – Jan 2018</a:t>
            </a:r>
            <a:endParaRPr lang="en-US" sz="950" dirty="0"/>
          </a:p>
        </p:txBody>
      </p:sp>
      <p:sp>
        <p:nvSpPr>
          <p:cNvPr id="5" name="Shape 2"/>
          <p:cNvSpPr/>
          <p:nvPr/>
        </p:nvSpPr>
        <p:spPr>
          <a:xfrm>
            <a:off x="496119" y="3051572"/>
            <a:ext cx="2338760" cy="233214"/>
          </a:xfrm>
          <a:prstGeom prst="roundRect">
            <a:avLst>
              <a:gd name="adj" fmla="val 17872"/>
            </a:avLst>
          </a:prstGeom>
          <a:solidFill>
            <a:srgbClr val="D7D2F9"/>
          </a:solidFill>
          <a:ln/>
        </p:spPr>
      </p:sp>
      <p:sp>
        <p:nvSpPr>
          <p:cNvPr id="6" name="Text 3"/>
          <p:cNvSpPr/>
          <p:nvPr/>
        </p:nvSpPr>
        <p:spPr>
          <a:xfrm>
            <a:off x="570533" y="3088779"/>
            <a:ext cx="2647131" cy="158800"/>
          </a:xfrm>
          <a:prstGeom prst="rect">
            <a:avLst/>
          </a:prstGeom>
          <a:noFill/>
          <a:ln/>
        </p:spPr>
        <p:txBody>
          <a:bodyPr wrap="none" lIns="0" tIns="0" rIns="0" bIns="0" rtlCol="0" anchor="t"/>
          <a:lstStyle/>
          <a:p>
            <a:pPr algn="l" indent="0" marL="0">
              <a:lnSpc>
                <a:spcPct val="133000"/>
              </a:lnSpc>
              <a:buNone/>
            </a:pPr>
            <a:r>
              <a:rPr lang="en-US" sz="750" dirty="0">
                <a:solidFill>
                  <a:srgbClr val="2A2742"/>
                </a:solidFill>
                <a:latin typeface="Arimo" pitchFamily="34" charset="0"/>
                <a:ea typeface="Arimo" pitchFamily="34" charset="-122"/>
                <a:cs typeface="Arimo" pitchFamily="34" charset="-120"/>
              </a:rPr>
              <a:t>GLOBAL E-COMMERCE ORDER FULFILLMENT</a:t>
            </a:r>
            <a:endParaRPr lang="en-US" sz="750" dirty="0"/>
          </a:p>
        </p:txBody>
      </p:sp>
      <p:sp>
        <p:nvSpPr>
          <p:cNvPr id="7" name="Shape 4"/>
          <p:cNvSpPr/>
          <p:nvPr/>
        </p:nvSpPr>
        <p:spPr>
          <a:xfrm>
            <a:off x="2896865" y="3046809"/>
            <a:ext cx="996479" cy="242739"/>
          </a:xfrm>
          <a:prstGeom prst="roundRect">
            <a:avLst>
              <a:gd name="adj" fmla="val 17171"/>
            </a:avLst>
          </a:prstGeom>
          <a:noFill/>
          <a:ln w="4763">
            <a:solidFill>
              <a:srgbClr val="5E4CE6"/>
            </a:solidFill>
            <a:prstDash val="solid"/>
          </a:ln>
        </p:spPr>
      </p:sp>
      <p:sp>
        <p:nvSpPr>
          <p:cNvPr id="8" name="Text 5"/>
          <p:cNvSpPr/>
          <p:nvPr/>
        </p:nvSpPr>
        <p:spPr>
          <a:xfrm>
            <a:off x="2976042" y="3088779"/>
            <a:ext cx="1295326" cy="158800"/>
          </a:xfrm>
          <a:prstGeom prst="rect">
            <a:avLst/>
          </a:prstGeom>
          <a:noFill/>
          <a:ln/>
        </p:spPr>
        <p:txBody>
          <a:bodyPr wrap="none" lIns="0" tIns="0" rIns="0" bIns="0" rtlCol="0" anchor="t"/>
          <a:lstStyle/>
          <a:p>
            <a:pPr algn="l" indent="0" marL="0">
              <a:lnSpc>
                <a:spcPct val="133000"/>
              </a:lnSpc>
              <a:buNone/>
            </a:pPr>
            <a:r>
              <a:rPr lang="en-US" sz="750" dirty="0">
                <a:solidFill>
                  <a:srgbClr val="5E4CE6"/>
                </a:solidFill>
                <a:latin typeface="Arimo" pitchFamily="34" charset="0"/>
                <a:ea typeface="Arimo" pitchFamily="34" charset="-122"/>
                <a:cs typeface="Arimo" pitchFamily="34" charset="-120"/>
              </a:rPr>
              <a:t>1,72,765 ORDERS</a:t>
            </a:r>
            <a:endParaRPr lang="en-US" sz="750" dirty="0"/>
          </a:p>
        </p:txBody>
      </p:sp>
      <p:sp>
        <p:nvSpPr>
          <p:cNvPr id="9" name="Shape 6"/>
          <p:cNvSpPr/>
          <p:nvPr/>
        </p:nvSpPr>
        <p:spPr>
          <a:xfrm>
            <a:off x="496119" y="3351535"/>
            <a:ext cx="2207121" cy="242739"/>
          </a:xfrm>
          <a:prstGeom prst="roundRect">
            <a:avLst>
              <a:gd name="adj" fmla="val 17171"/>
            </a:avLst>
          </a:prstGeom>
          <a:noFill/>
          <a:ln w="4763">
            <a:solidFill>
              <a:srgbClr val="5E4CE6"/>
            </a:solidFill>
            <a:prstDash val="solid"/>
          </a:ln>
        </p:spPr>
      </p:sp>
      <p:sp>
        <p:nvSpPr>
          <p:cNvPr id="10" name="Text 7"/>
          <p:cNvSpPr/>
          <p:nvPr/>
        </p:nvSpPr>
        <p:spPr>
          <a:xfrm>
            <a:off x="575295" y="3393504"/>
            <a:ext cx="2505968" cy="158800"/>
          </a:xfrm>
          <a:prstGeom prst="rect">
            <a:avLst/>
          </a:prstGeom>
          <a:noFill/>
          <a:ln/>
        </p:spPr>
        <p:txBody>
          <a:bodyPr wrap="none" lIns="0" tIns="0" rIns="0" bIns="0" rtlCol="0" anchor="t"/>
          <a:lstStyle/>
          <a:p>
            <a:pPr algn="l" indent="0" marL="0">
              <a:lnSpc>
                <a:spcPct val="133000"/>
              </a:lnSpc>
              <a:buNone/>
            </a:pPr>
            <a:r>
              <a:rPr lang="en-US" sz="750" dirty="0">
                <a:solidFill>
                  <a:srgbClr val="5E4CE6"/>
                </a:solidFill>
                <a:latin typeface="Arimo" pitchFamily="34" charset="0"/>
                <a:ea typeface="Arimo" pitchFamily="34" charset="-122"/>
                <a:cs typeface="Arimo" pitchFamily="34" charset="-120"/>
              </a:rPr>
              <a:t>OPERATIONS &amp; SUPPLY CHAIN ANALYTICS</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96119" y="459804"/>
            <a:ext cx="1243905" cy="233214"/>
          </a:xfrm>
          <a:prstGeom prst="roundRect">
            <a:avLst>
              <a:gd name="adj" fmla="val 17872"/>
            </a:avLst>
          </a:prstGeom>
          <a:solidFill>
            <a:srgbClr val="D7D2F9"/>
          </a:solidFill>
          <a:ln/>
        </p:spPr>
      </p:sp>
      <p:sp>
        <p:nvSpPr>
          <p:cNvPr id="3" name="Text 1"/>
          <p:cNvSpPr/>
          <p:nvPr/>
        </p:nvSpPr>
        <p:spPr>
          <a:xfrm>
            <a:off x="570533" y="497012"/>
            <a:ext cx="1552277" cy="158800"/>
          </a:xfrm>
          <a:prstGeom prst="rect">
            <a:avLst/>
          </a:prstGeom>
          <a:noFill/>
          <a:ln/>
        </p:spPr>
        <p:txBody>
          <a:bodyPr wrap="none" lIns="0" tIns="0" rIns="0" bIns="0" rtlCol="0" anchor="t"/>
          <a:lstStyle/>
          <a:p>
            <a:pPr algn="l" indent="0" marL="0">
              <a:lnSpc>
                <a:spcPct val="133000"/>
              </a:lnSpc>
              <a:buNone/>
            </a:pPr>
            <a:r>
              <a:rPr lang="en-US" sz="750" dirty="0">
                <a:solidFill>
                  <a:srgbClr val="2A2742"/>
                </a:solidFill>
                <a:latin typeface="Arimo" pitchFamily="34" charset="0"/>
                <a:ea typeface="Arimo" pitchFamily="34" charset="-122"/>
                <a:cs typeface="Arimo" pitchFamily="34" charset="-120"/>
              </a:rPr>
              <a:t>EXECUTIVE SUMMARY</a:t>
            </a:r>
            <a:endParaRPr lang="en-US" sz="750" dirty="0"/>
          </a:p>
        </p:txBody>
      </p:sp>
      <p:sp>
        <p:nvSpPr>
          <p:cNvPr id="4" name="Text 2"/>
          <p:cNvSpPr/>
          <p:nvPr/>
        </p:nvSpPr>
        <p:spPr>
          <a:xfrm>
            <a:off x="496119" y="742578"/>
            <a:ext cx="8359750" cy="387548"/>
          </a:xfrm>
          <a:prstGeom prst="rect">
            <a:avLst/>
          </a:prstGeom>
          <a:noFill/>
          <a:ln/>
        </p:spPr>
        <p:txBody>
          <a:bodyPr wrap="none" lIns="0" tIns="0" rIns="0" bIns="0" rtlCol="0" anchor="t"/>
          <a:lstStyle/>
          <a:p>
            <a:pPr algn="l" indent="0" marL="0">
              <a:lnSpc>
                <a:spcPct val="104000"/>
              </a:lnSpc>
              <a:buNone/>
            </a:pPr>
            <a:r>
              <a:rPr lang="en-US" sz="2400" dirty="0">
                <a:solidFill>
                  <a:srgbClr val="231971"/>
                </a:solidFill>
                <a:latin typeface="Outfit ExtraBold" pitchFamily="34" charset="0"/>
                <a:ea typeface="Outfit ExtraBold" pitchFamily="34" charset="-122"/>
                <a:cs typeface="Outfit ExtraBold" pitchFamily="34" charset="-120"/>
              </a:rPr>
              <a:t>The Headline: More Than Half of All Orders Arrive Late</a:t>
            </a:r>
            <a:endParaRPr lang="en-US" sz="2400" dirty="0"/>
          </a:p>
        </p:txBody>
      </p:sp>
      <p:sp>
        <p:nvSpPr>
          <p:cNvPr id="5" name="Text 3"/>
          <p:cNvSpPr/>
          <p:nvPr/>
        </p:nvSpPr>
        <p:spPr>
          <a:xfrm>
            <a:off x="496119" y="1316162"/>
            <a:ext cx="8151763"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This report analyzes </a:t>
            </a:r>
            <a:pPr algn="l" indent="0" marL="0">
              <a:lnSpc>
                <a:spcPct val="133000"/>
              </a:lnSpc>
              <a:buNone/>
            </a:pPr>
            <a:r>
              <a:rPr lang="en-US" sz="950" b="1" dirty="0">
                <a:solidFill>
                  <a:srgbClr val="2A2742"/>
                </a:solidFill>
                <a:latin typeface="Arimo" pitchFamily="34" charset="0"/>
                <a:ea typeface="Arimo" pitchFamily="34" charset="-122"/>
                <a:cs typeface="Arimo" pitchFamily="34" charset="-120"/>
              </a:rPr>
              <a:t>1,72,765 orders</a:t>
            </a:r>
            <a:pPr algn="l" indent="0" marL="0">
              <a:lnSpc>
                <a:spcPct val="133000"/>
              </a:lnSpc>
              <a:buNone/>
            </a:pPr>
            <a:r>
              <a:rPr lang="en-US" sz="950" dirty="0">
                <a:solidFill>
                  <a:srgbClr val="2A2742"/>
                </a:solidFill>
                <a:latin typeface="Arimo" pitchFamily="34" charset="0"/>
                <a:ea typeface="Arimo" pitchFamily="34" charset="-122"/>
                <a:cs typeface="Arimo" pitchFamily="34" charset="-120"/>
              </a:rPr>
              <a:t> spanning January 2015 through January 2018 across a global e-commerce platform. The findings are striking: </a:t>
            </a:r>
            <a:pPr algn="l" indent="0" marL="0">
              <a:lnSpc>
                <a:spcPct val="133000"/>
              </a:lnSpc>
              <a:buNone/>
            </a:pPr>
            <a:r>
              <a:rPr lang="en-US" sz="950" b="1" dirty="0">
                <a:solidFill>
                  <a:srgbClr val="2A2742"/>
                </a:solidFill>
                <a:latin typeface="Arimo" pitchFamily="34" charset="0"/>
                <a:ea typeface="Arimo" pitchFamily="34" charset="-122"/>
                <a:cs typeface="Arimo" pitchFamily="34" charset="-120"/>
              </a:rPr>
              <a:t>54.71% of all orders are delivered late</a:t>
            </a:r>
            <a:pPr algn="l" indent="0" marL="0">
              <a:lnSpc>
                <a:spcPct val="133000"/>
              </a:lnSpc>
              <a:buNone/>
            </a:pPr>
            <a:r>
              <a:rPr lang="en-US" sz="950" dirty="0">
                <a:solidFill>
                  <a:srgbClr val="2A2742"/>
                </a:solidFill>
                <a:latin typeface="Arimo" pitchFamily="34" charset="0"/>
                <a:ea typeface="Arimo" pitchFamily="34" charset="-122"/>
                <a:cs typeface="Arimo" pitchFamily="34" charset="-120"/>
              </a:rPr>
              <a:t>, costing the business an estimated </a:t>
            </a:r>
            <a:pPr algn="l" indent="0" marL="0">
              <a:lnSpc>
                <a:spcPct val="133000"/>
              </a:lnSpc>
              <a:buNone/>
            </a:pPr>
            <a:r>
              <a:rPr lang="en-US" sz="950" b="1" dirty="0">
                <a:solidFill>
                  <a:srgbClr val="2A2742"/>
                </a:solidFill>
                <a:latin typeface="Arimo" pitchFamily="34" charset="0"/>
                <a:ea typeface="Arimo" pitchFamily="34" charset="-122"/>
                <a:cs typeface="Arimo" pitchFamily="34" charset="-120"/>
              </a:rPr>
              <a:t>$2.1M in eroded profitability</a:t>
            </a:r>
            <a:pPr algn="l" indent="0" marL="0">
              <a:lnSpc>
                <a:spcPct val="133000"/>
              </a:lnSpc>
              <a:buNone/>
            </a:pPr>
            <a:r>
              <a:rPr lang="en-US" sz="950" dirty="0">
                <a:solidFill>
                  <a:srgbClr val="2A2742"/>
                </a:solidFill>
                <a:latin typeface="Arimo" pitchFamily="34" charset="0"/>
                <a:ea typeface="Arimo" pitchFamily="34" charset="-122"/>
                <a:cs typeface="Arimo" pitchFamily="34" charset="-120"/>
              </a:rPr>
              <a:t> on delayed orders alone. While total profit across fulfilled orders reached </a:t>
            </a:r>
            <a:pPr algn="l" indent="0" marL="0">
              <a:lnSpc>
                <a:spcPct val="133000"/>
              </a:lnSpc>
              <a:buNone/>
            </a:pPr>
            <a:r>
              <a:rPr lang="en-US" sz="950" b="1" dirty="0">
                <a:solidFill>
                  <a:srgbClr val="2A2742"/>
                </a:solidFill>
                <a:latin typeface="Arimo" pitchFamily="34" charset="0"/>
                <a:ea typeface="Arimo" pitchFamily="34" charset="-122"/>
                <a:cs typeface="Arimo" pitchFamily="34" charset="-120"/>
              </a:rPr>
              <a:t>$7.5M</a:t>
            </a:r>
            <a:pPr algn="l" indent="0" marL="0">
              <a:lnSpc>
                <a:spcPct val="133000"/>
              </a:lnSpc>
              <a:buNone/>
            </a:pPr>
            <a:r>
              <a:rPr lang="en-US" sz="950" dirty="0">
                <a:solidFill>
                  <a:srgbClr val="2A2742"/>
                </a:solidFill>
                <a:latin typeface="Arimo" pitchFamily="34" charset="0"/>
                <a:ea typeface="Arimo" pitchFamily="34" charset="-122"/>
                <a:cs typeface="Arimo" pitchFamily="34" charset="-120"/>
              </a:rPr>
              <a:t>, the persistent late-delivery problem represents both a significant financial drain and a major customer-experience risk.</a:t>
            </a:r>
            <a:endParaRPr lang="en-US" sz="950" dirty="0"/>
          </a:p>
        </p:txBody>
      </p:sp>
      <p:sp>
        <p:nvSpPr>
          <p:cNvPr id="6" name="Text 4"/>
          <p:cNvSpPr/>
          <p:nvPr/>
        </p:nvSpPr>
        <p:spPr>
          <a:xfrm>
            <a:off x="496119" y="2311524"/>
            <a:ext cx="3998342" cy="409352"/>
          </a:xfrm>
          <a:prstGeom prst="rect">
            <a:avLst/>
          </a:prstGeom>
          <a:noFill/>
          <a:ln/>
        </p:spPr>
        <p:txBody>
          <a:bodyPr wrap="none" lIns="0" tIns="0" rIns="0" bIns="0" rtlCol="0" anchor="t"/>
          <a:lstStyle/>
          <a:p>
            <a:pPr algn="ctr" indent="0" marL="0">
              <a:lnSpc>
                <a:spcPct val="83000"/>
              </a:lnSpc>
              <a:buNone/>
            </a:pPr>
            <a:r>
              <a:rPr lang="en-US" sz="3200" dirty="0">
                <a:solidFill>
                  <a:srgbClr val="2A2742"/>
                </a:solidFill>
                <a:latin typeface="Outfit ExtraBold" pitchFamily="34" charset="0"/>
                <a:ea typeface="Outfit ExtraBold" pitchFamily="34" charset="-122"/>
                <a:cs typeface="Outfit ExtraBold" pitchFamily="34" charset="-120"/>
              </a:rPr>
              <a:t>1,72,765</a:t>
            </a:r>
            <a:endParaRPr lang="en-US" sz="3200" dirty="0"/>
          </a:p>
        </p:txBody>
      </p:sp>
      <p:sp>
        <p:nvSpPr>
          <p:cNvPr id="7" name="Text 5"/>
          <p:cNvSpPr/>
          <p:nvPr/>
        </p:nvSpPr>
        <p:spPr>
          <a:xfrm>
            <a:off x="1690390" y="2875880"/>
            <a:ext cx="1609725" cy="193849"/>
          </a:xfrm>
          <a:prstGeom prst="rect">
            <a:avLst/>
          </a:prstGeom>
          <a:noFill/>
          <a:ln/>
        </p:spPr>
        <p:txBody>
          <a:bodyPr wrap="none" lIns="0" tIns="0" rIns="0" bIns="0" rtlCol="0" anchor="t"/>
          <a:lstStyle/>
          <a:p>
            <a:pPr algn="ctr"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Total Orders Analyzed</a:t>
            </a:r>
            <a:endParaRPr lang="en-US" sz="1200" dirty="0"/>
          </a:p>
        </p:txBody>
      </p:sp>
      <p:sp>
        <p:nvSpPr>
          <p:cNvPr id="8" name="Text 6"/>
          <p:cNvSpPr/>
          <p:nvPr/>
        </p:nvSpPr>
        <p:spPr>
          <a:xfrm>
            <a:off x="4649465" y="2311524"/>
            <a:ext cx="3998416" cy="409352"/>
          </a:xfrm>
          <a:prstGeom prst="rect">
            <a:avLst/>
          </a:prstGeom>
          <a:noFill/>
          <a:ln/>
        </p:spPr>
        <p:txBody>
          <a:bodyPr wrap="none" lIns="0" tIns="0" rIns="0" bIns="0" rtlCol="0" anchor="t"/>
          <a:lstStyle/>
          <a:p>
            <a:pPr algn="ctr" indent="0" marL="0">
              <a:lnSpc>
                <a:spcPct val="83000"/>
              </a:lnSpc>
              <a:buNone/>
            </a:pPr>
            <a:r>
              <a:rPr lang="en-US" sz="3200" dirty="0">
                <a:solidFill>
                  <a:srgbClr val="2A2742"/>
                </a:solidFill>
                <a:latin typeface="Outfit ExtraBold" pitchFamily="34" charset="0"/>
                <a:ea typeface="Outfit ExtraBold" pitchFamily="34" charset="-122"/>
                <a:cs typeface="Outfit ExtraBold" pitchFamily="34" charset="-120"/>
              </a:rPr>
              <a:t>54.71%</a:t>
            </a:r>
            <a:endParaRPr lang="en-US" sz="3200" dirty="0"/>
          </a:p>
        </p:txBody>
      </p:sp>
      <p:sp>
        <p:nvSpPr>
          <p:cNvPr id="9" name="Text 7"/>
          <p:cNvSpPr/>
          <p:nvPr/>
        </p:nvSpPr>
        <p:spPr>
          <a:xfrm>
            <a:off x="5873353" y="2875880"/>
            <a:ext cx="1550566" cy="193849"/>
          </a:xfrm>
          <a:prstGeom prst="rect">
            <a:avLst/>
          </a:prstGeom>
          <a:noFill/>
          <a:ln/>
        </p:spPr>
        <p:txBody>
          <a:bodyPr wrap="none" lIns="0" tIns="0" rIns="0" bIns="0" rtlCol="0" anchor="t"/>
          <a:lstStyle/>
          <a:p>
            <a:pPr algn="ctr"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Late Delivery Rate</a:t>
            </a:r>
            <a:endParaRPr lang="en-US" sz="1200" dirty="0"/>
          </a:p>
        </p:txBody>
      </p:sp>
      <p:sp>
        <p:nvSpPr>
          <p:cNvPr id="10" name="Text 8"/>
          <p:cNvSpPr/>
          <p:nvPr/>
        </p:nvSpPr>
        <p:spPr>
          <a:xfrm>
            <a:off x="4649465" y="3144143"/>
            <a:ext cx="3998416" cy="198462"/>
          </a:xfrm>
          <a:prstGeom prst="rect">
            <a:avLst/>
          </a:prstGeom>
          <a:noFill/>
          <a:ln/>
        </p:spPr>
        <p:txBody>
          <a:bodyPr wrap="none" lIns="0" tIns="0" rIns="0" bIns="0" rtlCol="0" anchor="t"/>
          <a:lstStyle/>
          <a:p>
            <a:pPr algn="ctr" indent="0" marL="0">
              <a:lnSpc>
                <a:spcPct val="133000"/>
              </a:lnSpc>
              <a:buNone/>
            </a:pPr>
            <a:r>
              <a:rPr lang="en-US" sz="950" dirty="0">
                <a:solidFill>
                  <a:srgbClr val="2A2742"/>
                </a:solidFill>
                <a:latin typeface="Arimo" pitchFamily="34" charset="0"/>
                <a:ea typeface="Arimo" pitchFamily="34" charset="-122"/>
                <a:cs typeface="Arimo" pitchFamily="34" charset="-120"/>
              </a:rPr>
              <a:t>94,523 orders delivered late</a:t>
            </a:r>
            <a:endParaRPr lang="en-US" sz="950" dirty="0"/>
          </a:p>
        </p:txBody>
      </p:sp>
      <p:sp>
        <p:nvSpPr>
          <p:cNvPr id="11" name="Text 9"/>
          <p:cNvSpPr/>
          <p:nvPr/>
        </p:nvSpPr>
        <p:spPr>
          <a:xfrm>
            <a:off x="496119" y="3652614"/>
            <a:ext cx="3998342" cy="409352"/>
          </a:xfrm>
          <a:prstGeom prst="rect">
            <a:avLst/>
          </a:prstGeom>
          <a:noFill/>
          <a:ln/>
        </p:spPr>
        <p:txBody>
          <a:bodyPr wrap="none" lIns="0" tIns="0" rIns="0" bIns="0" rtlCol="0" anchor="t"/>
          <a:lstStyle/>
          <a:p>
            <a:pPr algn="ctr" indent="0" marL="0">
              <a:lnSpc>
                <a:spcPct val="83000"/>
              </a:lnSpc>
              <a:buNone/>
            </a:pPr>
            <a:r>
              <a:rPr lang="en-US" sz="3200" dirty="0">
                <a:solidFill>
                  <a:srgbClr val="2A2742"/>
                </a:solidFill>
                <a:latin typeface="Outfit ExtraBold" pitchFamily="34" charset="0"/>
                <a:ea typeface="Outfit ExtraBold" pitchFamily="34" charset="-122"/>
                <a:cs typeface="Outfit ExtraBold" pitchFamily="34" charset="-120"/>
              </a:rPr>
              <a:t>$7.5M</a:t>
            </a:r>
            <a:endParaRPr lang="en-US" sz="3200" dirty="0"/>
          </a:p>
        </p:txBody>
      </p:sp>
      <p:sp>
        <p:nvSpPr>
          <p:cNvPr id="12" name="Text 10"/>
          <p:cNvSpPr/>
          <p:nvPr/>
        </p:nvSpPr>
        <p:spPr>
          <a:xfrm>
            <a:off x="1720007" y="4216971"/>
            <a:ext cx="1550566" cy="193849"/>
          </a:xfrm>
          <a:prstGeom prst="rect">
            <a:avLst/>
          </a:prstGeom>
          <a:noFill/>
          <a:ln/>
        </p:spPr>
        <p:txBody>
          <a:bodyPr wrap="none" lIns="0" tIns="0" rIns="0" bIns="0" rtlCol="0" anchor="t"/>
          <a:lstStyle/>
          <a:p>
            <a:pPr algn="ctr"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Total Profit</a:t>
            </a:r>
            <a:endParaRPr lang="en-US" sz="1200" dirty="0"/>
          </a:p>
        </p:txBody>
      </p:sp>
      <p:sp>
        <p:nvSpPr>
          <p:cNvPr id="13" name="Text 11"/>
          <p:cNvSpPr/>
          <p:nvPr/>
        </p:nvSpPr>
        <p:spPr>
          <a:xfrm>
            <a:off x="496119" y="4485233"/>
            <a:ext cx="3998342" cy="198462"/>
          </a:xfrm>
          <a:prstGeom prst="rect">
            <a:avLst/>
          </a:prstGeom>
          <a:noFill/>
          <a:ln/>
        </p:spPr>
        <p:txBody>
          <a:bodyPr wrap="none" lIns="0" tIns="0" rIns="0" bIns="0" rtlCol="0" anchor="t"/>
          <a:lstStyle/>
          <a:p>
            <a:pPr algn="ctr" indent="0" marL="0">
              <a:lnSpc>
                <a:spcPct val="133000"/>
              </a:lnSpc>
              <a:buNone/>
            </a:pPr>
            <a:r>
              <a:rPr lang="en-US" sz="950" dirty="0">
                <a:solidFill>
                  <a:srgbClr val="2A2742"/>
                </a:solidFill>
                <a:latin typeface="Arimo" pitchFamily="34" charset="0"/>
                <a:ea typeface="Arimo" pitchFamily="34" charset="-122"/>
                <a:cs typeface="Arimo" pitchFamily="34" charset="-120"/>
              </a:rPr>
              <a:t>Across all profitable orders</a:t>
            </a:r>
            <a:endParaRPr lang="en-US" sz="950" dirty="0"/>
          </a:p>
        </p:txBody>
      </p:sp>
      <p:sp>
        <p:nvSpPr>
          <p:cNvPr id="14" name="Text 12"/>
          <p:cNvSpPr/>
          <p:nvPr/>
        </p:nvSpPr>
        <p:spPr>
          <a:xfrm>
            <a:off x="4649465" y="3652614"/>
            <a:ext cx="3998416" cy="409352"/>
          </a:xfrm>
          <a:prstGeom prst="rect">
            <a:avLst/>
          </a:prstGeom>
          <a:noFill/>
          <a:ln/>
        </p:spPr>
        <p:txBody>
          <a:bodyPr wrap="none" lIns="0" tIns="0" rIns="0" bIns="0" rtlCol="0" anchor="t"/>
          <a:lstStyle/>
          <a:p>
            <a:pPr algn="ctr" indent="0" marL="0">
              <a:lnSpc>
                <a:spcPct val="83000"/>
              </a:lnSpc>
              <a:buNone/>
            </a:pPr>
            <a:r>
              <a:rPr lang="en-US" sz="3200" dirty="0">
                <a:solidFill>
                  <a:srgbClr val="2A2742"/>
                </a:solidFill>
                <a:latin typeface="Outfit ExtraBold" pitchFamily="34" charset="0"/>
                <a:ea typeface="Outfit ExtraBold" pitchFamily="34" charset="-122"/>
                <a:cs typeface="Outfit ExtraBold" pitchFamily="34" charset="-120"/>
              </a:rPr>
              <a:t>$2.1M</a:t>
            </a:r>
            <a:endParaRPr lang="en-US" sz="3200" dirty="0"/>
          </a:p>
        </p:txBody>
      </p:sp>
      <p:sp>
        <p:nvSpPr>
          <p:cNvPr id="15" name="Text 13"/>
          <p:cNvSpPr/>
          <p:nvPr/>
        </p:nvSpPr>
        <p:spPr>
          <a:xfrm>
            <a:off x="5873353" y="4216971"/>
            <a:ext cx="1550566" cy="193849"/>
          </a:xfrm>
          <a:prstGeom prst="rect">
            <a:avLst/>
          </a:prstGeom>
          <a:noFill/>
          <a:ln/>
        </p:spPr>
        <p:txBody>
          <a:bodyPr wrap="none" lIns="0" tIns="0" rIns="0" bIns="0" rtlCol="0" anchor="t"/>
          <a:lstStyle/>
          <a:p>
            <a:pPr algn="ctr"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Profit at Risk</a:t>
            </a:r>
            <a:endParaRPr lang="en-US" sz="1200" dirty="0"/>
          </a:p>
        </p:txBody>
      </p:sp>
      <p:sp>
        <p:nvSpPr>
          <p:cNvPr id="16" name="Text 14"/>
          <p:cNvSpPr/>
          <p:nvPr/>
        </p:nvSpPr>
        <p:spPr>
          <a:xfrm>
            <a:off x="4649465" y="4485233"/>
            <a:ext cx="3998416" cy="198462"/>
          </a:xfrm>
          <a:prstGeom prst="rect">
            <a:avLst/>
          </a:prstGeom>
          <a:noFill/>
          <a:ln/>
        </p:spPr>
        <p:txBody>
          <a:bodyPr wrap="none" lIns="0" tIns="0" rIns="0" bIns="0" rtlCol="0" anchor="t"/>
          <a:lstStyle/>
          <a:p>
            <a:pPr algn="ctr" indent="0" marL="0">
              <a:lnSpc>
                <a:spcPct val="133000"/>
              </a:lnSpc>
              <a:buNone/>
            </a:pPr>
            <a:r>
              <a:rPr lang="en-US" sz="950" dirty="0">
                <a:solidFill>
                  <a:srgbClr val="2A2742"/>
                </a:solidFill>
                <a:latin typeface="Arimo" pitchFamily="34" charset="0"/>
                <a:ea typeface="Arimo" pitchFamily="34" charset="-122"/>
                <a:cs typeface="Arimo" pitchFamily="34" charset="-120"/>
              </a:rPr>
              <a:t>On delayed orders alone</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1119560"/>
            <a:ext cx="1152004" cy="233214"/>
          </a:xfrm>
          <a:prstGeom prst="roundRect">
            <a:avLst>
              <a:gd name="adj" fmla="val 17872"/>
            </a:avLst>
          </a:prstGeom>
          <a:solidFill>
            <a:srgbClr val="D7D2F9"/>
          </a:solidFill>
          <a:ln/>
        </p:spPr>
      </p:sp>
      <p:sp>
        <p:nvSpPr>
          <p:cNvPr id="3" name="Text 1"/>
          <p:cNvSpPr/>
          <p:nvPr/>
        </p:nvSpPr>
        <p:spPr>
          <a:xfrm>
            <a:off x="570533" y="1156767"/>
            <a:ext cx="1460376" cy="158800"/>
          </a:xfrm>
          <a:prstGeom prst="rect">
            <a:avLst/>
          </a:prstGeom>
          <a:noFill/>
          <a:ln/>
        </p:spPr>
        <p:txBody>
          <a:bodyPr wrap="none" lIns="0" tIns="0" rIns="0" bIns="0" rtlCol="0" anchor="t"/>
          <a:lstStyle/>
          <a:p>
            <a:pPr algn="l" indent="0" marL="0">
              <a:lnSpc>
                <a:spcPct val="133000"/>
              </a:lnSpc>
              <a:buNone/>
            </a:pPr>
            <a:r>
              <a:rPr lang="en-US" sz="750" dirty="0">
                <a:solidFill>
                  <a:srgbClr val="2A2742"/>
                </a:solidFill>
                <a:latin typeface="Arimo" pitchFamily="34" charset="0"/>
                <a:ea typeface="Arimo" pitchFamily="34" charset="-122"/>
                <a:cs typeface="Arimo" pitchFamily="34" charset="-120"/>
              </a:rPr>
              <a:t>BUSINESS CONTEXT</a:t>
            </a:r>
            <a:endParaRPr lang="en-US" sz="750" dirty="0"/>
          </a:p>
        </p:txBody>
      </p:sp>
      <p:sp>
        <p:nvSpPr>
          <p:cNvPr id="4" name="Text 2"/>
          <p:cNvSpPr/>
          <p:nvPr/>
        </p:nvSpPr>
        <p:spPr>
          <a:xfrm>
            <a:off x="496119" y="1402333"/>
            <a:ext cx="6325270" cy="387548"/>
          </a:xfrm>
          <a:prstGeom prst="rect">
            <a:avLst/>
          </a:prstGeom>
          <a:noFill/>
          <a:ln/>
        </p:spPr>
        <p:txBody>
          <a:bodyPr wrap="none" lIns="0" tIns="0" rIns="0" bIns="0" rtlCol="0" anchor="t"/>
          <a:lstStyle/>
          <a:p>
            <a:pPr algn="l" indent="0" marL="0">
              <a:lnSpc>
                <a:spcPct val="104000"/>
              </a:lnSpc>
              <a:buNone/>
            </a:pPr>
            <a:r>
              <a:rPr lang="en-US" sz="2400" dirty="0">
                <a:solidFill>
                  <a:srgbClr val="231971"/>
                </a:solidFill>
                <a:latin typeface="Outfit ExtraBold" pitchFamily="34" charset="0"/>
                <a:ea typeface="Outfit ExtraBold" pitchFamily="34" charset="-122"/>
                <a:cs typeface="Outfit ExtraBold" pitchFamily="34" charset="-120"/>
              </a:rPr>
              <a:t>Business Context &amp; Analytical Objectives</a:t>
            </a:r>
            <a:endParaRPr lang="en-US" sz="2400" dirty="0"/>
          </a:p>
        </p:txBody>
      </p:sp>
      <p:sp>
        <p:nvSpPr>
          <p:cNvPr id="5" name="Shape 3"/>
          <p:cNvSpPr/>
          <p:nvPr/>
        </p:nvSpPr>
        <p:spPr>
          <a:xfrm>
            <a:off x="406822" y="1975917"/>
            <a:ext cx="4103191" cy="2047949"/>
          </a:xfrm>
          <a:prstGeom prst="roundRect">
            <a:avLst>
              <a:gd name="adj" fmla="val 4361"/>
            </a:avLst>
          </a:prstGeom>
          <a:solidFill>
            <a:srgbClr val="5E4CE6">
              <a:alpha val="95000"/>
            </a:srgbClr>
          </a:solidFill>
          <a:ln/>
        </p:spPr>
      </p:sp>
      <p:sp>
        <p:nvSpPr>
          <p:cNvPr id="6" name="Text 4"/>
          <p:cNvSpPr/>
          <p:nvPr/>
        </p:nvSpPr>
        <p:spPr>
          <a:xfrm>
            <a:off x="530796" y="2099890"/>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FFFFFF"/>
                </a:solidFill>
                <a:latin typeface="Outfit ExtraBold" pitchFamily="34" charset="0"/>
                <a:ea typeface="Outfit ExtraBold" pitchFamily="34" charset="-122"/>
                <a:cs typeface="Outfit ExtraBold" pitchFamily="34" charset="-120"/>
              </a:rPr>
              <a:t>The Core Problem</a:t>
            </a:r>
            <a:endParaRPr lang="en-US" sz="1200" dirty="0"/>
          </a:p>
        </p:txBody>
      </p:sp>
      <p:sp>
        <p:nvSpPr>
          <p:cNvPr id="7" name="Text 5"/>
          <p:cNvSpPr/>
          <p:nvPr/>
        </p:nvSpPr>
        <p:spPr>
          <a:xfrm>
            <a:off x="530796" y="2417713"/>
            <a:ext cx="3855244" cy="1190774"/>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FFFFFF"/>
                </a:solidFill>
                <a:latin typeface="Arimo" pitchFamily="34" charset="0"/>
                <a:ea typeface="Arimo" pitchFamily="34" charset="-122"/>
                <a:cs typeface="Arimo" pitchFamily="34" charset="-120"/>
              </a:rPr>
              <a:t>The company operates a global e-commerce platform selling sporting goods, fitness equipment, outdoor gear, footwear, and apparel. Actual shipping times frequently deviate from scheduled delivery windows, eroding customer trust, reducing order profitability, and undermining the ability to make reliable delivery commitments at the point of purchase.</a:t>
            </a:r>
            <a:endParaRPr lang="en-US" sz="950" dirty="0"/>
          </a:p>
        </p:txBody>
      </p:sp>
      <p:sp>
        <p:nvSpPr>
          <p:cNvPr id="8" name="Text 6"/>
          <p:cNvSpPr/>
          <p:nvPr/>
        </p:nvSpPr>
        <p:spPr>
          <a:xfrm>
            <a:off x="4728046" y="2099890"/>
            <a:ext cx="2007766" cy="193849"/>
          </a:xfrm>
          <a:prstGeom prst="rect">
            <a:avLst/>
          </a:prstGeom>
          <a:noFill/>
          <a:ln/>
        </p:spPr>
        <p:txBody>
          <a:bodyPr wrap="none" lIns="0" tIns="0" rIns="0" bIns="0" rtlCol="0" anchor="t"/>
          <a:lstStyle/>
          <a:p>
            <a:pPr algn="l" indent="0" marL="0">
              <a:lnSpc>
                <a:spcPct val="104000"/>
              </a:lnSpc>
              <a:buNone/>
            </a:pPr>
            <a:r>
              <a:rPr lang="en-US" sz="1200" dirty="0">
                <a:solidFill>
                  <a:srgbClr val="231971"/>
                </a:solidFill>
                <a:latin typeface="Outfit ExtraBold" pitchFamily="34" charset="0"/>
                <a:ea typeface="Outfit ExtraBold" pitchFamily="34" charset="-122"/>
                <a:cs typeface="Outfit ExtraBold" pitchFamily="34" charset="-120"/>
              </a:rPr>
              <a:t>Analytical Objectives</a:t>
            </a:r>
            <a:endParaRPr lang="en-US" sz="1200" dirty="0"/>
          </a:p>
        </p:txBody>
      </p:sp>
      <p:sp>
        <p:nvSpPr>
          <p:cNvPr id="9" name="Text 7"/>
          <p:cNvSpPr/>
          <p:nvPr/>
        </p:nvSpPr>
        <p:spPr>
          <a:xfrm>
            <a:off x="4728046" y="2417713"/>
            <a:ext cx="3924598" cy="1562770"/>
          </a:xfrm>
          <a:prstGeom prst="rect">
            <a:avLst/>
          </a:prstGeom>
          <a:noFill/>
          <a:ln/>
        </p:spPr>
        <p:txBody>
          <a:bodyPr wrap="square" lIns="0" tIns="0" rIns="0" bIns="0" rtlCol="0" anchor="t">
            <a:normAutofit/>
          </a:bodyPr>
          <a:lstStyle/>
          <a:p>
            <a:pPr algn="l" marL="342900" indent="-342900">
              <a:lnSpc>
                <a:spcPct val="133000"/>
              </a:lnSpc>
              <a:buSzPct val="100000"/>
              <a:buChar char="•"/>
            </a:pPr>
            <a:r>
              <a:rPr lang="en-US" sz="950" dirty="0">
                <a:solidFill>
                  <a:srgbClr val="2A2742"/>
                </a:solidFill>
                <a:latin typeface="Arimo" pitchFamily="34" charset="0"/>
                <a:ea typeface="Arimo" pitchFamily="34" charset="-122"/>
                <a:cs typeface="Arimo" pitchFamily="34" charset="-120"/>
              </a:rPr>
              <a:t>Understand delivery performance across region, shipping mode, time, and customer segment</a:t>
            </a:r>
            <a:endParaRPr lang="en-US" sz="950" dirty="0"/>
          </a:p>
          <a:p>
            <a:pPr algn="l" marL="342900" indent="-342900">
              <a:lnSpc>
                <a:spcPct val="133000"/>
              </a:lnSpc>
              <a:buSzPct val="100000"/>
              <a:buChar char="•"/>
            </a:pPr>
            <a:r>
              <a:rPr lang="en-US" sz="950" dirty="0">
                <a:solidFill>
                  <a:srgbClr val="2A2742"/>
                </a:solidFill>
                <a:latin typeface="Arimo" pitchFamily="34" charset="0"/>
                <a:ea typeface="Arimo" pitchFamily="34" charset="-122"/>
                <a:cs typeface="Arimo" pitchFamily="34" charset="-120"/>
              </a:rPr>
              <a:t>Quantify the financial impact of delays on order profitability</a:t>
            </a:r>
            <a:endParaRPr lang="en-US" sz="950" dirty="0"/>
          </a:p>
          <a:p>
            <a:pPr algn="l" marL="342900" indent="-342900">
              <a:lnSpc>
                <a:spcPct val="133000"/>
              </a:lnSpc>
              <a:buSzPct val="100000"/>
              <a:buChar char="•"/>
            </a:pPr>
            <a:r>
              <a:rPr lang="en-US" sz="950" dirty="0">
                <a:solidFill>
                  <a:srgbClr val="2A2742"/>
                </a:solidFill>
                <a:latin typeface="Arimo" pitchFamily="34" charset="0"/>
                <a:ea typeface="Arimo" pitchFamily="34" charset="-122"/>
                <a:cs typeface="Arimo" pitchFamily="34" charset="-120"/>
              </a:rPr>
              <a:t>Identify primary operational bottlenecks driving late deliveries</a:t>
            </a:r>
            <a:endParaRPr lang="en-US" sz="950" dirty="0"/>
          </a:p>
          <a:p>
            <a:pPr algn="l" marL="342900" indent="-342900">
              <a:lnSpc>
                <a:spcPct val="133000"/>
              </a:lnSpc>
              <a:buSzPct val="100000"/>
              <a:buChar char="•"/>
            </a:pPr>
            <a:r>
              <a:rPr lang="en-US" sz="950" dirty="0">
                <a:solidFill>
                  <a:srgbClr val="2A2742"/>
                </a:solidFill>
                <a:latin typeface="Arimo" pitchFamily="34" charset="0"/>
                <a:ea typeface="Arimo" pitchFamily="34" charset="-122"/>
                <a:cs typeface="Arimo" pitchFamily="34" charset="-120"/>
              </a:rPr>
              <a:t>Build a predictive model to flag high-risk orders before shipment</a:t>
            </a:r>
            <a:endParaRPr lang="en-US" sz="950" dirty="0"/>
          </a:p>
          <a:p>
            <a:pPr algn="l" marL="342900" indent="-342900">
              <a:lnSpc>
                <a:spcPct val="133000"/>
              </a:lnSpc>
              <a:buSzPct val="100000"/>
              <a:buChar char="•"/>
            </a:pPr>
            <a:r>
              <a:rPr lang="en-US" sz="950" dirty="0">
                <a:solidFill>
                  <a:srgbClr val="2A2742"/>
                </a:solidFill>
                <a:latin typeface="Arimo" pitchFamily="34" charset="0"/>
                <a:ea typeface="Arimo" pitchFamily="34" charset="-122"/>
                <a:cs typeface="Arimo" pitchFamily="34" charset="-120"/>
              </a:rPr>
              <a:t>Deliver actionable recommendations to improve on-time delivery and profitability</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348109"/>
            <a:ext cx="322064" cy="190649"/>
          </a:xfrm>
          <a:prstGeom prst="roundRect">
            <a:avLst>
              <a:gd name="adj" fmla="val 18788"/>
            </a:avLst>
          </a:prstGeom>
          <a:solidFill>
            <a:srgbClr val="D7D2F9"/>
          </a:solidFill>
          <a:ln/>
        </p:spPr>
      </p:sp>
      <p:sp>
        <p:nvSpPr>
          <p:cNvPr id="3" name="Text 1"/>
          <p:cNvSpPr/>
          <p:nvPr/>
        </p:nvSpPr>
        <p:spPr>
          <a:xfrm>
            <a:off x="560040" y="380033"/>
            <a:ext cx="651421" cy="126802"/>
          </a:xfrm>
          <a:prstGeom prst="rect">
            <a:avLst/>
          </a:prstGeom>
          <a:noFill/>
          <a:ln/>
        </p:spPr>
        <p:txBody>
          <a:bodyPr wrap="none" lIns="0" tIns="0" rIns="0" bIns="0" rtlCol="0" anchor="t"/>
          <a:lstStyle/>
          <a:p>
            <a:pPr algn="l" indent="0" marL="0">
              <a:lnSpc>
                <a:spcPct val="124000"/>
              </a:lnSpc>
              <a:buNone/>
            </a:pPr>
            <a:r>
              <a:rPr lang="en-US" sz="650" dirty="0">
                <a:solidFill>
                  <a:srgbClr val="2A2742"/>
                </a:solidFill>
                <a:latin typeface="Arimo" pitchFamily="34" charset="0"/>
                <a:ea typeface="Arimo" pitchFamily="34" charset="-122"/>
                <a:cs typeface="Arimo" pitchFamily="34" charset="-120"/>
              </a:rPr>
              <a:t>KPIS</a:t>
            </a:r>
            <a:endParaRPr lang="en-US" sz="650" dirty="0"/>
          </a:p>
        </p:txBody>
      </p:sp>
      <p:sp>
        <p:nvSpPr>
          <p:cNvPr id="4" name="Text 2"/>
          <p:cNvSpPr/>
          <p:nvPr/>
        </p:nvSpPr>
        <p:spPr>
          <a:xfrm>
            <a:off x="496119" y="575370"/>
            <a:ext cx="3933230" cy="333077"/>
          </a:xfrm>
          <a:prstGeom prst="rect">
            <a:avLst/>
          </a:prstGeom>
          <a:noFill/>
          <a:ln/>
        </p:spPr>
        <p:txBody>
          <a:bodyPr wrap="none" lIns="0" tIns="0" rIns="0" bIns="0" rtlCol="0" anchor="t"/>
          <a:lstStyle/>
          <a:p>
            <a:pPr algn="l" indent="0" marL="0">
              <a:lnSpc>
                <a:spcPct val="104000"/>
              </a:lnSpc>
              <a:buNone/>
            </a:pPr>
            <a:r>
              <a:rPr lang="en-US" sz="2050" dirty="0">
                <a:solidFill>
                  <a:srgbClr val="231971"/>
                </a:solidFill>
                <a:latin typeface="Outfit ExtraBold" pitchFamily="34" charset="0"/>
                <a:ea typeface="Outfit ExtraBold" pitchFamily="34" charset="-122"/>
                <a:cs typeface="Outfit ExtraBold" pitchFamily="34" charset="-120"/>
              </a:rPr>
              <a:t>Key Performance Indicators</a:t>
            </a:r>
            <a:endParaRPr lang="en-US" sz="2050" dirty="0"/>
          </a:p>
        </p:txBody>
      </p:sp>
      <p:sp>
        <p:nvSpPr>
          <p:cNvPr id="5" name="Shape 3"/>
          <p:cNvSpPr/>
          <p:nvPr/>
        </p:nvSpPr>
        <p:spPr>
          <a:xfrm>
            <a:off x="496119" y="1045815"/>
            <a:ext cx="8151763" cy="2549054"/>
          </a:xfrm>
          <a:prstGeom prst="roundRect">
            <a:avLst>
              <a:gd name="adj" fmla="val 1756"/>
            </a:avLst>
          </a:prstGeom>
          <a:noFill/>
          <a:ln w="4763">
            <a:solidFill>
              <a:srgbClr val="000000">
                <a:alpha val="8000"/>
              </a:srgbClr>
            </a:solidFill>
            <a:prstDash val="solid"/>
          </a:ln>
        </p:spPr>
      </p:sp>
      <p:sp>
        <p:nvSpPr>
          <p:cNvPr id="6" name="Text 4"/>
          <p:cNvSpPr/>
          <p:nvPr/>
        </p:nvSpPr>
        <p:spPr>
          <a:xfrm>
            <a:off x="607442" y="1110258"/>
            <a:ext cx="4315197" cy="158576"/>
          </a:xfrm>
          <a:prstGeom prst="rect">
            <a:avLst/>
          </a:prstGeom>
          <a:noFill/>
          <a:ln/>
        </p:spPr>
        <p:txBody>
          <a:bodyPr wrap="none" lIns="0" tIns="0" rIns="0" bIns="0" rtlCol="0" anchor="t"/>
          <a:lstStyle/>
          <a:p>
            <a:pPr algn="l" indent="0" marL="0">
              <a:lnSpc>
                <a:spcPct val="124000"/>
              </a:lnSpc>
              <a:buNone/>
            </a:pPr>
            <a:r>
              <a:rPr lang="en-US" sz="800" b="1" dirty="0">
                <a:solidFill>
                  <a:srgbClr val="2A2742"/>
                </a:solidFill>
                <a:latin typeface="Arimo" pitchFamily="34" charset="0"/>
                <a:ea typeface="Arimo" pitchFamily="34" charset="-122"/>
                <a:cs typeface="Arimo" pitchFamily="34" charset="-120"/>
              </a:rPr>
              <a:t>Metric</a:t>
            </a:r>
            <a:endParaRPr lang="en-US" sz="800" dirty="0"/>
          </a:p>
        </p:txBody>
      </p:sp>
      <p:sp>
        <p:nvSpPr>
          <p:cNvPr id="7" name="Text 5"/>
          <p:cNvSpPr/>
          <p:nvPr/>
        </p:nvSpPr>
        <p:spPr>
          <a:xfrm>
            <a:off x="4678561" y="1110258"/>
            <a:ext cx="4315197" cy="158576"/>
          </a:xfrm>
          <a:prstGeom prst="rect">
            <a:avLst/>
          </a:prstGeom>
          <a:noFill/>
          <a:ln/>
        </p:spPr>
        <p:txBody>
          <a:bodyPr wrap="none" lIns="0" tIns="0" rIns="0" bIns="0" rtlCol="0" anchor="t"/>
          <a:lstStyle/>
          <a:p>
            <a:pPr algn="l" indent="0" marL="0">
              <a:lnSpc>
                <a:spcPct val="124000"/>
              </a:lnSpc>
              <a:buNone/>
            </a:pPr>
            <a:r>
              <a:rPr lang="en-US" sz="800" b="1" dirty="0">
                <a:solidFill>
                  <a:srgbClr val="2A2742"/>
                </a:solidFill>
                <a:latin typeface="Arimo" pitchFamily="34" charset="0"/>
                <a:ea typeface="Arimo" pitchFamily="34" charset="-122"/>
                <a:cs typeface="Arimo" pitchFamily="34" charset="-120"/>
              </a:rPr>
              <a:t>Value</a:t>
            </a:r>
            <a:endParaRPr lang="en-US" sz="800" dirty="0"/>
          </a:p>
        </p:txBody>
      </p:sp>
      <p:sp>
        <p:nvSpPr>
          <p:cNvPr id="8" name="Text 6"/>
          <p:cNvSpPr/>
          <p:nvPr/>
        </p:nvSpPr>
        <p:spPr>
          <a:xfrm>
            <a:off x="607442" y="1392957"/>
            <a:ext cx="4315197" cy="158576"/>
          </a:xfrm>
          <a:prstGeom prst="rect">
            <a:avLst/>
          </a:prstGeom>
          <a:noFill/>
          <a:ln/>
        </p:spPr>
        <p:txBody>
          <a:bodyPr wrap="none" lIns="0" tIns="0" rIns="0" bIns="0" rtlCol="0" anchor="t"/>
          <a:lstStyle/>
          <a:p>
            <a:pPr algn="l" indent="0" marL="0">
              <a:lnSpc>
                <a:spcPct val="124000"/>
              </a:lnSpc>
              <a:buNone/>
            </a:pPr>
            <a:r>
              <a:rPr lang="en-US" sz="800" dirty="0">
                <a:solidFill>
                  <a:srgbClr val="2A2742"/>
                </a:solidFill>
                <a:latin typeface="Arimo" pitchFamily="34" charset="0"/>
                <a:ea typeface="Arimo" pitchFamily="34" charset="-122"/>
                <a:cs typeface="Arimo" pitchFamily="34" charset="-120"/>
              </a:rPr>
              <a:t>Total Orders Analyzed</a:t>
            </a:r>
            <a:endParaRPr lang="en-US" sz="800" dirty="0"/>
          </a:p>
        </p:txBody>
      </p:sp>
      <p:sp>
        <p:nvSpPr>
          <p:cNvPr id="9" name="Text 7"/>
          <p:cNvSpPr/>
          <p:nvPr/>
        </p:nvSpPr>
        <p:spPr>
          <a:xfrm>
            <a:off x="4678561" y="1392957"/>
            <a:ext cx="4315197" cy="158576"/>
          </a:xfrm>
          <a:prstGeom prst="rect">
            <a:avLst/>
          </a:prstGeom>
          <a:noFill/>
          <a:ln/>
        </p:spPr>
        <p:txBody>
          <a:bodyPr wrap="none" lIns="0" tIns="0" rIns="0" bIns="0" rtlCol="0" anchor="t"/>
          <a:lstStyle/>
          <a:p>
            <a:pPr algn="l" indent="0" marL="0">
              <a:lnSpc>
                <a:spcPct val="124000"/>
              </a:lnSpc>
              <a:buNone/>
            </a:pPr>
            <a:r>
              <a:rPr lang="en-US" sz="800" dirty="0">
                <a:solidFill>
                  <a:srgbClr val="2A2742"/>
                </a:solidFill>
                <a:latin typeface="Arimo" pitchFamily="34" charset="0"/>
                <a:ea typeface="Arimo" pitchFamily="34" charset="-122"/>
                <a:cs typeface="Arimo" pitchFamily="34" charset="-120"/>
              </a:rPr>
              <a:t>1,72,765</a:t>
            </a:r>
            <a:endParaRPr lang="en-US" sz="800" dirty="0"/>
          </a:p>
        </p:txBody>
      </p:sp>
      <p:sp>
        <p:nvSpPr>
          <p:cNvPr id="10" name="Text 8"/>
          <p:cNvSpPr/>
          <p:nvPr/>
        </p:nvSpPr>
        <p:spPr>
          <a:xfrm>
            <a:off x="607442" y="1675656"/>
            <a:ext cx="4315197" cy="158576"/>
          </a:xfrm>
          <a:prstGeom prst="rect">
            <a:avLst/>
          </a:prstGeom>
          <a:noFill/>
          <a:ln/>
        </p:spPr>
        <p:txBody>
          <a:bodyPr wrap="none" lIns="0" tIns="0" rIns="0" bIns="0" rtlCol="0" anchor="t"/>
          <a:lstStyle/>
          <a:p>
            <a:pPr algn="l" indent="0" marL="0">
              <a:lnSpc>
                <a:spcPct val="124000"/>
              </a:lnSpc>
              <a:buNone/>
            </a:pPr>
            <a:r>
              <a:rPr lang="en-US" sz="800" dirty="0">
                <a:solidFill>
                  <a:srgbClr val="2A2742"/>
                </a:solidFill>
                <a:latin typeface="Arimo" pitchFamily="34" charset="0"/>
                <a:ea typeface="Arimo" pitchFamily="34" charset="-122"/>
                <a:cs typeface="Arimo" pitchFamily="34" charset="-120"/>
              </a:rPr>
              <a:t>Late Deliveries</a:t>
            </a:r>
            <a:endParaRPr lang="en-US" sz="800" dirty="0"/>
          </a:p>
        </p:txBody>
      </p:sp>
      <p:sp>
        <p:nvSpPr>
          <p:cNvPr id="11" name="Text 9"/>
          <p:cNvSpPr/>
          <p:nvPr/>
        </p:nvSpPr>
        <p:spPr>
          <a:xfrm>
            <a:off x="4678561" y="1675656"/>
            <a:ext cx="4315197" cy="158576"/>
          </a:xfrm>
          <a:prstGeom prst="rect">
            <a:avLst/>
          </a:prstGeom>
          <a:noFill/>
          <a:ln/>
        </p:spPr>
        <p:txBody>
          <a:bodyPr wrap="none" lIns="0" tIns="0" rIns="0" bIns="0" rtlCol="0" anchor="t"/>
          <a:lstStyle/>
          <a:p>
            <a:pPr algn="l" indent="0" marL="0">
              <a:lnSpc>
                <a:spcPct val="124000"/>
              </a:lnSpc>
              <a:buNone/>
            </a:pPr>
            <a:r>
              <a:rPr lang="en-US" sz="800" dirty="0">
                <a:solidFill>
                  <a:srgbClr val="2A2742"/>
                </a:solidFill>
                <a:latin typeface="Arimo" pitchFamily="34" charset="0"/>
                <a:ea typeface="Arimo" pitchFamily="34" charset="-122"/>
                <a:cs typeface="Arimo" pitchFamily="34" charset="-120"/>
              </a:rPr>
              <a:t>94,523</a:t>
            </a:r>
            <a:endParaRPr lang="en-US" sz="800" dirty="0"/>
          </a:p>
        </p:txBody>
      </p:sp>
      <p:sp>
        <p:nvSpPr>
          <p:cNvPr id="12" name="Text 10"/>
          <p:cNvSpPr/>
          <p:nvPr/>
        </p:nvSpPr>
        <p:spPr>
          <a:xfrm>
            <a:off x="607442" y="1958355"/>
            <a:ext cx="4315197" cy="158576"/>
          </a:xfrm>
          <a:prstGeom prst="rect">
            <a:avLst/>
          </a:prstGeom>
          <a:noFill/>
          <a:ln/>
        </p:spPr>
        <p:txBody>
          <a:bodyPr wrap="none" lIns="0" tIns="0" rIns="0" bIns="0" rtlCol="0" anchor="t"/>
          <a:lstStyle/>
          <a:p>
            <a:pPr algn="l" indent="0" marL="0">
              <a:lnSpc>
                <a:spcPct val="124000"/>
              </a:lnSpc>
              <a:buNone/>
            </a:pPr>
            <a:r>
              <a:rPr lang="en-US" sz="800" dirty="0">
                <a:solidFill>
                  <a:srgbClr val="2A2742"/>
                </a:solidFill>
                <a:latin typeface="Arimo" pitchFamily="34" charset="0"/>
                <a:ea typeface="Arimo" pitchFamily="34" charset="-122"/>
                <a:cs typeface="Arimo" pitchFamily="34" charset="-120"/>
              </a:rPr>
              <a:t>Late Delivery Rate</a:t>
            </a:r>
            <a:endParaRPr lang="en-US" sz="800" dirty="0"/>
          </a:p>
        </p:txBody>
      </p:sp>
      <p:sp>
        <p:nvSpPr>
          <p:cNvPr id="13" name="Text 11"/>
          <p:cNvSpPr/>
          <p:nvPr/>
        </p:nvSpPr>
        <p:spPr>
          <a:xfrm>
            <a:off x="4678561" y="1958355"/>
            <a:ext cx="4315197" cy="158576"/>
          </a:xfrm>
          <a:prstGeom prst="rect">
            <a:avLst/>
          </a:prstGeom>
          <a:noFill/>
          <a:ln/>
        </p:spPr>
        <p:txBody>
          <a:bodyPr wrap="none" lIns="0" tIns="0" rIns="0" bIns="0" rtlCol="0" anchor="t"/>
          <a:lstStyle/>
          <a:p>
            <a:pPr algn="l" indent="0" marL="0">
              <a:lnSpc>
                <a:spcPct val="124000"/>
              </a:lnSpc>
              <a:buNone/>
            </a:pPr>
            <a:r>
              <a:rPr lang="en-US" sz="800" dirty="0">
                <a:solidFill>
                  <a:srgbClr val="2A2742"/>
                </a:solidFill>
                <a:latin typeface="Arimo" pitchFamily="34" charset="0"/>
                <a:ea typeface="Arimo" pitchFamily="34" charset="-122"/>
                <a:cs typeface="Arimo" pitchFamily="34" charset="-120"/>
              </a:rPr>
              <a:t>54.71%</a:t>
            </a:r>
            <a:endParaRPr lang="en-US" sz="800" dirty="0"/>
          </a:p>
        </p:txBody>
      </p:sp>
      <p:sp>
        <p:nvSpPr>
          <p:cNvPr id="14" name="Text 12"/>
          <p:cNvSpPr/>
          <p:nvPr/>
        </p:nvSpPr>
        <p:spPr>
          <a:xfrm>
            <a:off x="607442" y="2241054"/>
            <a:ext cx="4315197" cy="158576"/>
          </a:xfrm>
          <a:prstGeom prst="rect">
            <a:avLst/>
          </a:prstGeom>
          <a:noFill/>
          <a:ln/>
        </p:spPr>
        <p:txBody>
          <a:bodyPr wrap="none" lIns="0" tIns="0" rIns="0" bIns="0" rtlCol="0" anchor="t"/>
          <a:lstStyle/>
          <a:p>
            <a:pPr algn="l" indent="0" marL="0">
              <a:lnSpc>
                <a:spcPct val="124000"/>
              </a:lnSpc>
              <a:buNone/>
            </a:pPr>
            <a:r>
              <a:rPr lang="en-US" sz="800" dirty="0">
                <a:solidFill>
                  <a:srgbClr val="2A2742"/>
                </a:solidFill>
                <a:latin typeface="Arimo" pitchFamily="34" charset="0"/>
                <a:ea typeface="Arimo" pitchFamily="34" charset="-122"/>
                <a:cs typeface="Arimo" pitchFamily="34" charset="-120"/>
              </a:rPr>
              <a:t>On-Time Delivery Rate</a:t>
            </a:r>
            <a:endParaRPr lang="en-US" sz="800" dirty="0"/>
          </a:p>
        </p:txBody>
      </p:sp>
      <p:sp>
        <p:nvSpPr>
          <p:cNvPr id="15" name="Text 13"/>
          <p:cNvSpPr/>
          <p:nvPr/>
        </p:nvSpPr>
        <p:spPr>
          <a:xfrm>
            <a:off x="4678561" y="2241054"/>
            <a:ext cx="4315197" cy="158576"/>
          </a:xfrm>
          <a:prstGeom prst="rect">
            <a:avLst/>
          </a:prstGeom>
          <a:noFill/>
          <a:ln/>
        </p:spPr>
        <p:txBody>
          <a:bodyPr wrap="none" lIns="0" tIns="0" rIns="0" bIns="0" rtlCol="0" anchor="t"/>
          <a:lstStyle/>
          <a:p>
            <a:pPr algn="l" indent="0" marL="0">
              <a:lnSpc>
                <a:spcPct val="124000"/>
              </a:lnSpc>
              <a:buNone/>
            </a:pPr>
            <a:r>
              <a:rPr lang="en-US" sz="800" dirty="0">
                <a:solidFill>
                  <a:srgbClr val="2A2742"/>
                </a:solidFill>
                <a:latin typeface="Arimo" pitchFamily="34" charset="0"/>
                <a:ea typeface="Arimo" pitchFamily="34" charset="-122"/>
                <a:cs typeface="Arimo" pitchFamily="34" charset="-120"/>
              </a:rPr>
              <a:t>45.29%</a:t>
            </a:r>
            <a:endParaRPr lang="en-US" sz="800" dirty="0"/>
          </a:p>
        </p:txBody>
      </p:sp>
      <p:sp>
        <p:nvSpPr>
          <p:cNvPr id="16" name="Text 14"/>
          <p:cNvSpPr/>
          <p:nvPr/>
        </p:nvSpPr>
        <p:spPr>
          <a:xfrm>
            <a:off x="607442" y="2523753"/>
            <a:ext cx="4315197" cy="158576"/>
          </a:xfrm>
          <a:prstGeom prst="rect">
            <a:avLst/>
          </a:prstGeom>
          <a:noFill/>
          <a:ln/>
        </p:spPr>
        <p:txBody>
          <a:bodyPr wrap="none" lIns="0" tIns="0" rIns="0" bIns="0" rtlCol="0" anchor="t"/>
          <a:lstStyle/>
          <a:p>
            <a:pPr algn="l" indent="0" marL="0">
              <a:lnSpc>
                <a:spcPct val="124000"/>
              </a:lnSpc>
              <a:buNone/>
            </a:pPr>
            <a:r>
              <a:rPr lang="en-US" sz="800" dirty="0">
                <a:solidFill>
                  <a:srgbClr val="2A2742"/>
                </a:solidFill>
                <a:latin typeface="Arimo" pitchFamily="34" charset="0"/>
                <a:ea typeface="Arimo" pitchFamily="34" charset="-122"/>
                <a:cs typeface="Arimo" pitchFamily="34" charset="-120"/>
              </a:rPr>
              <a:t>Total Profit (Profitable Orders)</a:t>
            </a:r>
            <a:endParaRPr lang="en-US" sz="800" dirty="0"/>
          </a:p>
        </p:txBody>
      </p:sp>
      <p:sp>
        <p:nvSpPr>
          <p:cNvPr id="17" name="Text 15"/>
          <p:cNvSpPr/>
          <p:nvPr/>
        </p:nvSpPr>
        <p:spPr>
          <a:xfrm>
            <a:off x="4678561" y="2523753"/>
            <a:ext cx="4315197" cy="158576"/>
          </a:xfrm>
          <a:prstGeom prst="rect">
            <a:avLst/>
          </a:prstGeom>
          <a:noFill/>
          <a:ln/>
        </p:spPr>
        <p:txBody>
          <a:bodyPr wrap="none" lIns="0" tIns="0" rIns="0" bIns="0" rtlCol="0" anchor="t"/>
          <a:lstStyle/>
          <a:p>
            <a:pPr algn="l" indent="0" marL="0">
              <a:lnSpc>
                <a:spcPct val="124000"/>
              </a:lnSpc>
              <a:buNone/>
            </a:pPr>
            <a:r>
              <a:rPr lang="en-US" sz="800" dirty="0">
                <a:solidFill>
                  <a:srgbClr val="2A2742"/>
                </a:solidFill>
                <a:latin typeface="Arimo" pitchFamily="34" charset="0"/>
                <a:ea typeface="Arimo" pitchFamily="34" charset="-122"/>
                <a:cs typeface="Arimo" pitchFamily="34" charset="-120"/>
              </a:rPr>
              <a:t>$7.5M</a:t>
            </a:r>
            <a:endParaRPr lang="en-US" sz="800" dirty="0"/>
          </a:p>
        </p:txBody>
      </p:sp>
      <p:sp>
        <p:nvSpPr>
          <p:cNvPr id="18" name="Text 16"/>
          <p:cNvSpPr/>
          <p:nvPr/>
        </p:nvSpPr>
        <p:spPr>
          <a:xfrm>
            <a:off x="607442" y="2806452"/>
            <a:ext cx="4315197" cy="158576"/>
          </a:xfrm>
          <a:prstGeom prst="rect">
            <a:avLst/>
          </a:prstGeom>
          <a:noFill/>
          <a:ln/>
        </p:spPr>
        <p:txBody>
          <a:bodyPr wrap="none" lIns="0" tIns="0" rIns="0" bIns="0" rtlCol="0" anchor="t"/>
          <a:lstStyle/>
          <a:p>
            <a:pPr algn="l" indent="0" marL="0">
              <a:lnSpc>
                <a:spcPct val="124000"/>
              </a:lnSpc>
              <a:buNone/>
            </a:pPr>
            <a:r>
              <a:rPr lang="en-US" sz="800" dirty="0">
                <a:solidFill>
                  <a:srgbClr val="2A2742"/>
                </a:solidFill>
                <a:latin typeface="Arimo" pitchFamily="34" charset="0"/>
                <a:ea typeface="Arimo" pitchFamily="34" charset="-122"/>
                <a:cs typeface="Arimo" pitchFamily="34" charset="-120"/>
              </a:rPr>
              <a:t>Profit at Risk (Delayed Orders)</a:t>
            </a:r>
            <a:endParaRPr lang="en-US" sz="800" dirty="0"/>
          </a:p>
        </p:txBody>
      </p:sp>
      <p:sp>
        <p:nvSpPr>
          <p:cNvPr id="19" name="Text 17"/>
          <p:cNvSpPr/>
          <p:nvPr/>
        </p:nvSpPr>
        <p:spPr>
          <a:xfrm>
            <a:off x="4678561" y="2806452"/>
            <a:ext cx="4315197" cy="158576"/>
          </a:xfrm>
          <a:prstGeom prst="rect">
            <a:avLst/>
          </a:prstGeom>
          <a:noFill/>
          <a:ln/>
        </p:spPr>
        <p:txBody>
          <a:bodyPr wrap="none" lIns="0" tIns="0" rIns="0" bIns="0" rtlCol="0" anchor="t"/>
          <a:lstStyle/>
          <a:p>
            <a:pPr algn="l" indent="0" marL="0">
              <a:lnSpc>
                <a:spcPct val="124000"/>
              </a:lnSpc>
              <a:buNone/>
            </a:pPr>
            <a:r>
              <a:rPr lang="en-US" sz="800" dirty="0">
                <a:solidFill>
                  <a:srgbClr val="2A2742"/>
                </a:solidFill>
                <a:latin typeface="Arimo" pitchFamily="34" charset="0"/>
                <a:ea typeface="Arimo" pitchFamily="34" charset="-122"/>
                <a:cs typeface="Arimo" pitchFamily="34" charset="-120"/>
              </a:rPr>
              <a:t>$2.1M</a:t>
            </a:r>
            <a:endParaRPr lang="en-US" sz="800" dirty="0"/>
          </a:p>
        </p:txBody>
      </p:sp>
      <p:sp>
        <p:nvSpPr>
          <p:cNvPr id="20" name="Text 18"/>
          <p:cNvSpPr/>
          <p:nvPr/>
        </p:nvSpPr>
        <p:spPr>
          <a:xfrm>
            <a:off x="607442" y="3089151"/>
            <a:ext cx="4315197" cy="158576"/>
          </a:xfrm>
          <a:prstGeom prst="rect">
            <a:avLst/>
          </a:prstGeom>
          <a:noFill/>
          <a:ln/>
        </p:spPr>
        <p:txBody>
          <a:bodyPr wrap="none" lIns="0" tIns="0" rIns="0" bIns="0" rtlCol="0" anchor="t"/>
          <a:lstStyle/>
          <a:p>
            <a:pPr algn="l" indent="0" marL="0">
              <a:lnSpc>
                <a:spcPct val="124000"/>
              </a:lnSpc>
              <a:buNone/>
            </a:pPr>
            <a:r>
              <a:rPr lang="en-US" sz="800" dirty="0">
                <a:solidFill>
                  <a:srgbClr val="2A2742"/>
                </a:solidFill>
                <a:latin typeface="Arimo" pitchFamily="34" charset="0"/>
                <a:ea typeface="Arimo" pitchFamily="34" charset="-122"/>
                <a:cs typeface="Arimo" pitchFamily="34" charset="-120"/>
              </a:rPr>
              <a:t>90th Percentile Delay</a:t>
            </a:r>
            <a:endParaRPr lang="en-US" sz="800" dirty="0"/>
          </a:p>
        </p:txBody>
      </p:sp>
      <p:sp>
        <p:nvSpPr>
          <p:cNvPr id="21" name="Text 19"/>
          <p:cNvSpPr/>
          <p:nvPr/>
        </p:nvSpPr>
        <p:spPr>
          <a:xfrm>
            <a:off x="4678561" y="3089151"/>
            <a:ext cx="4315197" cy="158576"/>
          </a:xfrm>
          <a:prstGeom prst="rect">
            <a:avLst/>
          </a:prstGeom>
          <a:noFill/>
          <a:ln/>
        </p:spPr>
        <p:txBody>
          <a:bodyPr wrap="none" lIns="0" tIns="0" rIns="0" bIns="0" rtlCol="0" anchor="t"/>
          <a:lstStyle/>
          <a:p>
            <a:pPr algn="l" indent="0" marL="0">
              <a:lnSpc>
                <a:spcPct val="124000"/>
              </a:lnSpc>
              <a:buNone/>
            </a:pPr>
            <a:r>
              <a:rPr lang="en-US" sz="800" dirty="0">
                <a:solidFill>
                  <a:srgbClr val="2A2742"/>
                </a:solidFill>
                <a:latin typeface="Arimo" pitchFamily="34" charset="0"/>
                <a:ea typeface="Arimo" pitchFamily="34" charset="-122"/>
                <a:cs typeface="Arimo" pitchFamily="34" charset="-120"/>
              </a:rPr>
              <a:t>3 days</a:t>
            </a:r>
            <a:endParaRPr lang="en-US" sz="800" dirty="0"/>
          </a:p>
        </p:txBody>
      </p:sp>
      <p:sp>
        <p:nvSpPr>
          <p:cNvPr id="22" name="Text 20"/>
          <p:cNvSpPr/>
          <p:nvPr/>
        </p:nvSpPr>
        <p:spPr>
          <a:xfrm>
            <a:off x="607442" y="3371850"/>
            <a:ext cx="4315197" cy="158576"/>
          </a:xfrm>
          <a:prstGeom prst="rect">
            <a:avLst/>
          </a:prstGeom>
          <a:noFill/>
          <a:ln/>
        </p:spPr>
        <p:txBody>
          <a:bodyPr wrap="none" lIns="0" tIns="0" rIns="0" bIns="0" rtlCol="0" anchor="t"/>
          <a:lstStyle/>
          <a:p>
            <a:pPr algn="l" indent="0" marL="0">
              <a:lnSpc>
                <a:spcPct val="124000"/>
              </a:lnSpc>
              <a:buNone/>
            </a:pPr>
            <a:r>
              <a:rPr lang="en-US" sz="800" dirty="0">
                <a:solidFill>
                  <a:srgbClr val="2A2742"/>
                </a:solidFill>
                <a:latin typeface="Arimo" pitchFamily="34" charset="0"/>
                <a:ea typeface="Arimo" pitchFamily="34" charset="-122"/>
                <a:cs typeface="Arimo" pitchFamily="34" charset="-120"/>
              </a:rPr>
              <a:t>Average Order Profit</a:t>
            </a:r>
            <a:endParaRPr lang="en-US" sz="800" dirty="0"/>
          </a:p>
        </p:txBody>
      </p:sp>
      <p:sp>
        <p:nvSpPr>
          <p:cNvPr id="23" name="Text 21"/>
          <p:cNvSpPr/>
          <p:nvPr/>
        </p:nvSpPr>
        <p:spPr>
          <a:xfrm>
            <a:off x="4678561" y="3371850"/>
            <a:ext cx="4315197" cy="158576"/>
          </a:xfrm>
          <a:prstGeom prst="rect">
            <a:avLst/>
          </a:prstGeom>
          <a:noFill/>
          <a:ln/>
        </p:spPr>
        <p:txBody>
          <a:bodyPr wrap="none" lIns="0" tIns="0" rIns="0" bIns="0" rtlCol="0" anchor="t"/>
          <a:lstStyle/>
          <a:p>
            <a:pPr algn="l" indent="0" marL="0">
              <a:lnSpc>
                <a:spcPct val="124000"/>
              </a:lnSpc>
              <a:buNone/>
            </a:pPr>
            <a:r>
              <a:rPr lang="en-US" sz="800" dirty="0">
                <a:solidFill>
                  <a:srgbClr val="2A2742"/>
                </a:solidFill>
                <a:latin typeface="Arimo" pitchFamily="34" charset="0"/>
                <a:ea typeface="Arimo" pitchFamily="34" charset="-122"/>
                <a:cs typeface="Arimo" pitchFamily="34" charset="-120"/>
              </a:rPr>
              <a:t>$22.03</a:t>
            </a:r>
            <a:endParaRPr lang="en-US" sz="800" dirty="0"/>
          </a:p>
        </p:txBody>
      </p:sp>
      <p:pic>
        <p:nvPicPr>
          <p:cNvPr id="2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81831" y="3697858"/>
            <a:ext cx="2670423" cy="1097459"/>
          </a:xfrm>
          <a:prstGeom prst="rect">
            <a:avLst/>
          </a:prstGeom>
        </p:spPr>
      </p:pic>
      <p:sp>
        <p:nvSpPr>
          <p:cNvPr id="25" name="Text 22"/>
          <p:cNvSpPr/>
          <p:nvPr/>
        </p:nvSpPr>
        <p:spPr>
          <a:xfrm>
            <a:off x="659829" y="3818706"/>
            <a:ext cx="1576983" cy="166539"/>
          </a:xfrm>
          <a:prstGeom prst="rect">
            <a:avLst/>
          </a:prstGeom>
          <a:noFill/>
          <a:ln/>
        </p:spPr>
        <p:txBody>
          <a:bodyPr wrap="none" lIns="0" tIns="0" rIns="0" bIns="0" rtlCol="0" anchor="t"/>
          <a:lstStyle/>
          <a:p>
            <a:pPr algn="l" indent="0" marL="0">
              <a:lnSpc>
                <a:spcPct val="104000"/>
              </a:lnSpc>
              <a:buNone/>
            </a:pPr>
            <a:r>
              <a:rPr lang="en-US" sz="1000" dirty="0">
                <a:solidFill>
                  <a:srgbClr val="2A2742"/>
                </a:solidFill>
                <a:latin typeface="Outfit ExtraBold" pitchFamily="34" charset="0"/>
                <a:ea typeface="Outfit ExtraBold" pitchFamily="34" charset="-122"/>
                <a:cs typeface="Outfit ExtraBold" pitchFamily="34" charset="-120"/>
              </a:rPr>
              <a:t>54.71% Late Delivery Rate</a:t>
            </a:r>
            <a:endParaRPr lang="en-US" sz="1000" dirty="0"/>
          </a:p>
        </p:txBody>
      </p:sp>
      <p:sp>
        <p:nvSpPr>
          <p:cNvPr id="26" name="Text 23"/>
          <p:cNvSpPr/>
          <p:nvPr/>
        </p:nvSpPr>
        <p:spPr>
          <a:xfrm>
            <a:off x="659829" y="4040163"/>
            <a:ext cx="2371576" cy="475729"/>
          </a:xfrm>
          <a:prstGeom prst="rect">
            <a:avLst/>
          </a:prstGeom>
          <a:noFill/>
          <a:ln/>
        </p:spPr>
        <p:txBody>
          <a:bodyPr wrap="square" lIns="0" tIns="0" rIns="0" bIns="0" rtlCol="0" anchor="t">
            <a:normAutofit/>
          </a:bodyPr>
          <a:lstStyle/>
          <a:p>
            <a:pPr algn="l" indent="0" marL="0">
              <a:lnSpc>
                <a:spcPct val="124000"/>
              </a:lnSpc>
              <a:buNone/>
            </a:pPr>
            <a:r>
              <a:rPr lang="en-US" sz="800" dirty="0">
                <a:solidFill>
                  <a:srgbClr val="2A2742"/>
                </a:solidFill>
                <a:latin typeface="Arimo" pitchFamily="34" charset="0"/>
                <a:ea typeface="Arimo" pitchFamily="34" charset="-122"/>
                <a:cs typeface="Arimo" pitchFamily="34" charset="-120"/>
              </a:rPr>
              <a:t>More than half of all orders arrive late — this is not an edge case. It represents the </a:t>
            </a:r>
            <a:pPr algn="l" indent="0" marL="0">
              <a:lnSpc>
                <a:spcPct val="124000"/>
              </a:lnSpc>
              <a:buNone/>
            </a:pPr>
            <a:r>
              <a:rPr lang="en-US" sz="800" b="1" dirty="0">
                <a:solidFill>
                  <a:srgbClr val="2A2742"/>
                </a:solidFill>
                <a:latin typeface="Arimo" pitchFamily="34" charset="0"/>
                <a:ea typeface="Arimo" pitchFamily="34" charset="-122"/>
                <a:cs typeface="Arimo" pitchFamily="34" charset="-120"/>
              </a:rPr>
              <a:t>default experience</a:t>
            </a:r>
            <a:pPr algn="l" indent="0" marL="0">
              <a:lnSpc>
                <a:spcPct val="124000"/>
              </a:lnSpc>
              <a:buNone/>
            </a:pPr>
            <a:r>
              <a:rPr lang="en-US" sz="800" dirty="0">
                <a:solidFill>
                  <a:srgbClr val="2A2742"/>
                </a:solidFill>
                <a:latin typeface="Arimo" pitchFamily="34" charset="0"/>
                <a:ea typeface="Arimo" pitchFamily="34" charset="-122"/>
                <a:cs typeface="Arimo" pitchFamily="34" charset="-120"/>
              </a:rPr>
              <a:t> for the majority of customers.</a:t>
            </a:r>
            <a:endParaRPr lang="en-US" sz="800" dirty="0"/>
          </a:p>
        </p:txBody>
      </p:sp>
      <p:pic>
        <p:nvPicPr>
          <p:cNvPr id="2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29570" y="3697858"/>
            <a:ext cx="2670497" cy="1097459"/>
          </a:xfrm>
          <a:prstGeom prst="rect">
            <a:avLst/>
          </a:prstGeom>
        </p:spPr>
      </p:pic>
      <p:sp>
        <p:nvSpPr>
          <p:cNvPr id="28" name="Text 24"/>
          <p:cNvSpPr/>
          <p:nvPr/>
        </p:nvSpPr>
        <p:spPr>
          <a:xfrm>
            <a:off x="3407569" y="3818706"/>
            <a:ext cx="1332458" cy="166539"/>
          </a:xfrm>
          <a:prstGeom prst="rect">
            <a:avLst/>
          </a:prstGeom>
          <a:noFill/>
          <a:ln/>
        </p:spPr>
        <p:txBody>
          <a:bodyPr wrap="none" lIns="0" tIns="0" rIns="0" bIns="0" rtlCol="0" anchor="t"/>
          <a:lstStyle/>
          <a:p>
            <a:pPr algn="l" indent="0" marL="0">
              <a:lnSpc>
                <a:spcPct val="104000"/>
              </a:lnSpc>
              <a:buNone/>
            </a:pPr>
            <a:r>
              <a:rPr lang="en-US" sz="1000" dirty="0">
                <a:solidFill>
                  <a:srgbClr val="2A2742"/>
                </a:solidFill>
                <a:latin typeface="Outfit ExtraBold" pitchFamily="34" charset="0"/>
                <a:ea typeface="Outfit ExtraBold" pitchFamily="34" charset="-122"/>
                <a:cs typeface="Outfit ExtraBold" pitchFamily="34" charset="-120"/>
              </a:rPr>
              <a:t>$2.1M Profit at Risk</a:t>
            </a:r>
            <a:endParaRPr lang="en-US" sz="1000" dirty="0"/>
          </a:p>
        </p:txBody>
      </p:sp>
      <p:sp>
        <p:nvSpPr>
          <p:cNvPr id="29" name="Text 25"/>
          <p:cNvSpPr/>
          <p:nvPr/>
        </p:nvSpPr>
        <p:spPr>
          <a:xfrm>
            <a:off x="3407569" y="4040163"/>
            <a:ext cx="2371651" cy="475729"/>
          </a:xfrm>
          <a:prstGeom prst="rect">
            <a:avLst/>
          </a:prstGeom>
          <a:noFill/>
          <a:ln/>
        </p:spPr>
        <p:txBody>
          <a:bodyPr wrap="square" lIns="0" tIns="0" rIns="0" bIns="0" rtlCol="0" anchor="t">
            <a:normAutofit/>
          </a:bodyPr>
          <a:lstStyle/>
          <a:p>
            <a:pPr algn="l" indent="0" marL="0">
              <a:lnSpc>
                <a:spcPct val="124000"/>
              </a:lnSpc>
              <a:buNone/>
            </a:pPr>
            <a:r>
              <a:rPr lang="en-US" sz="800" dirty="0">
                <a:solidFill>
                  <a:srgbClr val="2A2742"/>
                </a:solidFill>
                <a:latin typeface="Arimo" pitchFamily="34" charset="0"/>
                <a:ea typeface="Arimo" pitchFamily="34" charset="-122"/>
                <a:cs typeface="Arimo" pitchFamily="34" charset="-120"/>
              </a:rPr>
              <a:t>Delayed orders collectively generated $2.1M in profit that remains under constant pressure from operational deterioration.</a:t>
            </a:r>
            <a:endParaRPr lang="en-US" sz="800" dirty="0"/>
          </a:p>
        </p:txBody>
      </p:sp>
      <p:pic>
        <p:nvPicPr>
          <p:cNvPr id="30"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977384" y="3697858"/>
            <a:ext cx="2670497" cy="1097459"/>
          </a:xfrm>
          <a:prstGeom prst="rect">
            <a:avLst/>
          </a:prstGeom>
        </p:spPr>
      </p:pic>
      <p:sp>
        <p:nvSpPr>
          <p:cNvPr id="31" name="Text 26"/>
          <p:cNvSpPr/>
          <p:nvPr/>
        </p:nvSpPr>
        <p:spPr>
          <a:xfrm>
            <a:off x="6155382" y="3818706"/>
            <a:ext cx="1820094" cy="166539"/>
          </a:xfrm>
          <a:prstGeom prst="rect">
            <a:avLst/>
          </a:prstGeom>
          <a:noFill/>
          <a:ln/>
        </p:spPr>
        <p:txBody>
          <a:bodyPr wrap="none" lIns="0" tIns="0" rIns="0" bIns="0" rtlCol="0" anchor="t"/>
          <a:lstStyle/>
          <a:p>
            <a:pPr algn="l" indent="0" marL="0">
              <a:lnSpc>
                <a:spcPct val="104000"/>
              </a:lnSpc>
              <a:buNone/>
            </a:pPr>
            <a:r>
              <a:rPr lang="en-US" sz="1000" dirty="0">
                <a:solidFill>
                  <a:srgbClr val="2A2742"/>
                </a:solidFill>
                <a:latin typeface="Outfit ExtraBold" pitchFamily="34" charset="0"/>
                <a:ea typeface="Outfit ExtraBold" pitchFamily="34" charset="-122"/>
                <a:cs typeface="Outfit ExtraBold" pitchFamily="34" charset="-120"/>
              </a:rPr>
              <a:t>90th Percentile Delay: 3 Days</a:t>
            </a:r>
            <a:endParaRPr lang="en-US" sz="1000" dirty="0"/>
          </a:p>
        </p:txBody>
      </p:sp>
      <p:sp>
        <p:nvSpPr>
          <p:cNvPr id="32" name="Text 27"/>
          <p:cNvSpPr/>
          <p:nvPr/>
        </p:nvSpPr>
        <p:spPr>
          <a:xfrm>
            <a:off x="6155382" y="4040163"/>
            <a:ext cx="2371651" cy="634305"/>
          </a:xfrm>
          <a:prstGeom prst="rect">
            <a:avLst/>
          </a:prstGeom>
          <a:noFill/>
          <a:ln/>
        </p:spPr>
        <p:txBody>
          <a:bodyPr wrap="square" lIns="0" tIns="0" rIns="0" bIns="0" rtlCol="0" anchor="t">
            <a:normAutofit/>
          </a:bodyPr>
          <a:lstStyle/>
          <a:p>
            <a:pPr algn="l" indent="0" marL="0">
              <a:lnSpc>
                <a:spcPct val="124000"/>
              </a:lnSpc>
              <a:buNone/>
            </a:pPr>
            <a:r>
              <a:rPr lang="en-US" sz="800" dirty="0">
                <a:solidFill>
                  <a:srgbClr val="2A2742"/>
                </a:solidFill>
                <a:latin typeface="Arimo" pitchFamily="34" charset="0"/>
                <a:ea typeface="Arimo" pitchFamily="34" charset="-122"/>
                <a:cs typeface="Arimo" pitchFamily="34" charset="-120"/>
              </a:rPr>
              <a:t>Even the most extreme cases are contained within 3 days of lateness — the problem is </a:t>
            </a:r>
            <a:pPr algn="l" indent="0" marL="0">
              <a:lnSpc>
                <a:spcPct val="124000"/>
              </a:lnSpc>
              <a:buNone/>
            </a:pPr>
            <a:r>
              <a:rPr lang="en-US" sz="800" b="1" dirty="0">
                <a:solidFill>
                  <a:srgbClr val="2A2742"/>
                </a:solidFill>
                <a:latin typeface="Arimo" pitchFamily="34" charset="0"/>
                <a:ea typeface="Arimo" pitchFamily="34" charset="-122"/>
                <a:cs typeface="Arimo" pitchFamily="34" charset="-120"/>
              </a:rPr>
              <a:t>systemic and process-driven</a:t>
            </a:r>
            <a:pPr algn="l" indent="0" marL="0">
              <a:lnSpc>
                <a:spcPct val="124000"/>
              </a:lnSpc>
              <a:buNone/>
            </a:pPr>
            <a:r>
              <a:rPr lang="en-US" sz="800" dirty="0">
                <a:solidFill>
                  <a:srgbClr val="2A2742"/>
                </a:solidFill>
                <a:latin typeface="Arimo" pitchFamily="34" charset="0"/>
                <a:ea typeface="Arimo" pitchFamily="34" charset="-122"/>
                <a:cs typeface="Arimo" pitchFamily="34" charset="-120"/>
              </a:rPr>
              <a:t>, not caused by rare outliers.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591592"/>
            <a:ext cx="1372642" cy="233214"/>
          </a:xfrm>
          <a:prstGeom prst="roundRect">
            <a:avLst>
              <a:gd name="adj" fmla="val 17872"/>
            </a:avLst>
          </a:prstGeom>
          <a:solidFill>
            <a:srgbClr val="D7D2F9"/>
          </a:solidFill>
          <a:ln/>
        </p:spPr>
      </p:sp>
      <p:sp>
        <p:nvSpPr>
          <p:cNvPr id="3" name="Text 1"/>
          <p:cNvSpPr/>
          <p:nvPr/>
        </p:nvSpPr>
        <p:spPr>
          <a:xfrm>
            <a:off x="570533" y="628799"/>
            <a:ext cx="1681014" cy="158800"/>
          </a:xfrm>
          <a:prstGeom prst="rect">
            <a:avLst/>
          </a:prstGeom>
          <a:noFill/>
          <a:ln/>
        </p:spPr>
        <p:txBody>
          <a:bodyPr wrap="none" lIns="0" tIns="0" rIns="0" bIns="0" rtlCol="0" anchor="t"/>
          <a:lstStyle/>
          <a:p>
            <a:pPr algn="l" indent="0" marL="0">
              <a:lnSpc>
                <a:spcPct val="133000"/>
              </a:lnSpc>
              <a:buNone/>
            </a:pPr>
            <a:r>
              <a:rPr lang="en-US" sz="750" dirty="0">
                <a:solidFill>
                  <a:srgbClr val="2A2742"/>
                </a:solidFill>
                <a:latin typeface="Arimo" pitchFamily="34" charset="0"/>
                <a:ea typeface="Arimo" pitchFamily="34" charset="-122"/>
                <a:cs typeface="Arimo" pitchFamily="34" charset="-120"/>
              </a:rPr>
              <a:t>PROFITABILITY ANALYSIS</a:t>
            </a:r>
            <a:endParaRPr lang="en-US" sz="750" dirty="0"/>
          </a:p>
        </p:txBody>
      </p:sp>
      <p:sp>
        <p:nvSpPr>
          <p:cNvPr id="4" name="Text 2"/>
          <p:cNvSpPr/>
          <p:nvPr/>
        </p:nvSpPr>
        <p:spPr>
          <a:xfrm>
            <a:off x="496119" y="874365"/>
            <a:ext cx="8480673" cy="387548"/>
          </a:xfrm>
          <a:prstGeom prst="rect">
            <a:avLst/>
          </a:prstGeom>
          <a:noFill/>
          <a:ln/>
        </p:spPr>
        <p:txBody>
          <a:bodyPr wrap="none" lIns="0" tIns="0" rIns="0" bIns="0" rtlCol="0" anchor="t"/>
          <a:lstStyle/>
          <a:p>
            <a:pPr algn="l" indent="0" marL="0">
              <a:lnSpc>
                <a:spcPct val="104000"/>
              </a:lnSpc>
              <a:buNone/>
            </a:pPr>
            <a:r>
              <a:rPr lang="en-US" sz="2400" dirty="0">
                <a:solidFill>
                  <a:srgbClr val="231971"/>
                </a:solidFill>
                <a:latin typeface="Outfit ExtraBold" pitchFamily="34" charset="0"/>
                <a:ea typeface="Outfit ExtraBold" pitchFamily="34" charset="-122"/>
                <a:cs typeface="Outfit ExtraBold" pitchFamily="34" charset="-120"/>
              </a:rPr>
              <a:t>Profit Distribution: 80.7% Profitable, 18.7% Loss-Making</a:t>
            </a:r>
            <a:endParaRPr lang="en-US" sz="2400" dirty="0"/>
          </a:p>
        </p:txBody>
      </p:sp>
      <p:pic>
        <p:nvPicPr>
          <p:cNvPr id="5" name="Image 0" descr="preencoded.png">    </p:cNvPr>
          <p:cNvPicPr>
            <a:picLocks noChangeAspect="1"/>
          </p:cNvPicPr>
          <p:nvPr/>
        </p:nvPicPr>
        <p:blipFill>
          <a:blip r:embed="rId1"/>
          <a:stretch>
            <a:fillRect/>
          </a:stretch>
        </p:blipFill>
        <p:spPr>
          <a:xfrm>
            <a:off x="496119" y="1587475"/>
            <a:ext cx="3924598" cy="2824907"/>
          </a:xfrm>
          <a:prstGeom prst="rect">
            <a:avLst/>
          </a:prstGeom>
        </p:spPr>
      </p:pic>
      <p:sp>
        <p:nvSpPr>
          <p:cNvPr id="6" name="Text 3"/>
          <p:cNvSpPr/>
          <p:nvPr/>
        </p:nvSpPr>
        <p:spPr>
          <a:xfrm>
            <a:off x="4728046" y="1559570"/>
            <a:ext cx="3924598"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Order-level profitability was classified into three tiers. While </a:t>
            </a:r>
            <a:pPr algn="l" indent="0" marL="0">
              <a:lnSpc>
                <a:spcPct val="133000"/>
              </a:lnSpc>
              <a:buNone/>
            </a:pPr>
            <a:r>
              <a:rPr lang="en-US" sz="950" b="1" dirty="0">
                <a:solidFill>
                  <a:srgbClr val="2A2742"/>
                </a:solidFill>
                <a:latin typeface="Arimo" pitchFamily="34" charset="0"/>
                <a:ea typeface="Arimo" pitchFamily="34" charset="-122"/>
                <a:cs typeface="Arimo" pitchFamily="34" charset="-120"/>
              </a:rPr>
              <a:t>80.7% of orders are profitable</a:t>
            </a:r>
            <a:pPr algn="l" indent="0" marL="0">
              <a:lnSpc>
                <a:spcPct val="133000"/>
              </a:lnSpc>
              <a:buNone/>
            </a:pPr>
            <a:r>
              <a:rPr lang="en-US" sz="950" dirty="0">
                <a:solidFill>
                  <a:srgbClr val="2A2742"/>
                </a:solidFill>
                <a:latin typeface="Arimo" pitchFamily="34" charset="0"/>
                <a:ea typeface="Arimo" pitchFamily="34" charset="-122"/>
                <a:cs typeface="Arimo" pitchFamily="34" charset="-120"/>
              </a:rPr>
              <a:t>, the </a:t>
            </a:r>
            <a:pPr algn="l" indent="0" marL="0">
              <a:lnSpc>
                <a:spcPct val="133000"/>
              </a:lnSpc>
              <a:buNone/>
            </a:pPr>
            <a:r>
              <a:rPr lang="en-US" sz="950" b="1" dirty="0">
                <a:solidFill>
                  <a:srgbClr val="2A2742"/>
                </a:solidFill>
                <a:latin typeface="Arimo" pitchFamily="34" charset="0"/>
                <a:ea typeface="Arimo" pitchFamily="34" charset="-122"/>
                <a:cs typeface="Arimo" pitchFamily="34" charset="-120"/>
              </a:rPr>
              <a:t>18.7% loss-making share</a:t>
            </a:r>
            <a:pPr algn="l" indent="0" marL="0">
              <a:lnSpc>
                <a:spcPct val="133000"/>
              </a:lnSpc>
              <a:buNone/>
            </a:pPr>
            <a:r>
              <a:rPr lang="en-US" sz="950" dirty="0">
                <a:solidFill>
                  <a:srgbClr val="2A2742"/>
                </a:solidFill>
                <a:latin typeface="Arimo" pitchFamily="34" charset="0"/>
                <a:ea typeface="Arimo" pitchFamily="34" charset="-122"/>
                <a:cs typeface="Arimo" pitchFamily="34" charset="-120"/>
              </a:rPr>
              <a:t> represents a meaningful drag on the business — one disproportionately concentrated among delayed shipments.</a:t>
            </a:r>
            <a:endParaRPr lang="en-US" sz="950" dirty="0"/>
          </a:p>
        </p:txBody>
      </p:sp>
      <p:sp>
        <p:nvSpPr>
          <p:cNvPr id="7" name="Shape 4"/>
          <p:cNvSpPr/>
          <p:nvPr/>
        </p:nvSpPr>
        <p:spPr>
          <a:xfrm>
            <a:off x="4728046" y="2492946"/>
            <a:ext cx="3924598" cy="1079004"/>
          </a:xfrm>
          <a:prstGeom prst="roundRect">
            <a:avLst>
              <a:gd name="adj" fmla="val 4828"/>
            </a:avLst>
          </a:prstGeom>
          <a:solidFill>
            <a:srgbClr val="B6D6FC"/>
          </a:solidFill>
          <a:ln/>
        </p:spPr>
      </p:sp>
      <p:pic>
        <p:nvPicPr>
          <p:cNvPr id="8" name="Image 1" descr="preencoded.png">    </p:cNvPr>
          <p:cNvPicPr>
            <a:picLocks noChangeAspect="1"/>
          </p:cNvPicPr>
          <p:nvPr/>
        </p:nvPicPr>
        <p:blipFill>
          <a:blip r:embed="rId2"/>
          <a:stretch>
            <a:fillRect/>
          </a:stretch>
        </p:blipFill>
        <p:spPr>
          <a:xfrm>
            <a:off x="4852020" y="2677492"/>
            <a:ext cx="155004" cy="123974"/>
          </a:xfrm>
          <a:prstGeom prst="rect">
            <a:avLst/>
          </a:prstGeom>
        </p:spPr>
      </p:pic>
      <p:sp>
        <p:nvSpPr>
          <p:cNvPr id="9" name="Text 5"/>
          <p:cNvSpPr/>
          <p:nvPr/>
        </p:nvSpPr>
        <p:spPr>
          <a:xfrm>
            <a:off x="5130998" y="2635523"/>
            <a:ext cx="3397672"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000000"/>
                </a:solidFill>
                <a:latin typeface="Arimo" pitchFamily="34" charset="0"/>
                <a:ea typeface="Arimo" pitchFamily="34" charset="-122"/>
                <a:cs typeface="Arimo" pitchFamily="34" charset="-120"/>
              </a:rPr>
              <a:t>The loss-making share warrants a separate pricing and discount review. Cross-reference with delay analysis to determine whether discounted orders are disproportionately late, compounding the margin problem.</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350416"/>
            <a:ext cx="1243905" cy="204564"/>
          </a:xfrm>
          <a:prstGeom prst="roundRect">
            <a:avLst>
              <a:gd name="adj" fmla="val 18465"/>
            </a:avLst>
          </a:prstGeom>
          <a:solidFill>
            <a:srgbClr val="D7D2F9"/>
          </a:solidFill>
          <a:ln/>
        </p:spPr>
      </p:sp>
      <p:sp>
        <p:nvSpPr>
          <p:cNvPr id="3" name="Text 1"/>
          <p:cNvSpPr/>
          <p:nvPr/>
        </p:nvSpPr>
        <p:spPr>
          <a:xfrm>
            <a:off x="563538" y="384125"/>
            <a:ext cx="1566267" cy="137145"/>
          </a:xfrm>
          <a:prstGeom prst="rect">
            <a:avLst/>
          </a:prstGeom>
          <a:noFill/>
          <a:ln/>
        </p:spPr>
        <p:txBody>
          <a:bodyPr wrap="none" lIns="0" tIns="0" rIns="0" bIns="0" rtlCol="0" anchor="t"/>
          <a:lstStyle/>
          <a:p>
            <a:pPr algn="l" indent="0" marL="0">
              <a:lnSpc>
                <a:spcPct val="127000"/>
              </a:lnSpc>
              <a:buNone/>
            </a:pPr>
            <a:r>
              <a:rPr lang="en-US" sz="700" dirty="0">
                <a:solidFill>
                  <a:srgbClr val="2A2742"/>
                </a:solidFill>
                <a:latin typeface="Arimo" pitchFamily="34" charset="0"/>
                <a:ea typeface="Arimo" pitchFamily="34" charset="-122"/>
                <a:cs typeface="Arimo" pitchFamily="34" charset="-120"/>
              </a:rPr>
              <a:t>PROFITABILITY ANALYSIS</a:t>
            </a:r>
            <a:endParaRPr lang="en-US" sz="700" dirty="0"/>
          </a:p>
        </p:txBody>
      </p:sp>
      <p:sp>
        <p:nvSpPr>
          <p:cNvPr id="4" name="Text 2"/>
          <p:cNvSpPr/>
          <p:nvPr/>
        </p:nvSpPr>
        <p:spPr>
          <a:xfrm>
            <a:off x="496119" y="595685"/>
            <a:ext cx="5834807" cy="351309"/>
          </a:xfrm>
          <a:prstGeom prst="rect">
            <a:avLst/>
          </a:prstGeom>
          <a:noFill/>
          <a:ln/>
        </p:spPr>
        <p:txBody>
          <a:bodyPr wrap="none" lIns="0" tIns="0" rIns="0" bIns="0" rtlCol="0" anchor="t"/>
          <a:lstStyle/>
          <a:p>
            <a:pPr algn="l" indent="0" marL="0">
              <a:lnSpc>
                <a:spcPct val="104000"/>
              </a:lnSpc>
              <a:buNone/>
            </a:pPr>
            <a:r>
              <a:rPr lang="en-US" sz="2200" dirty="0">
                <a:solidFill>
                  <a:srgbClr val="231971"/>
                </a:solidFill>
                <a:latin typeface="Outfit ExtraBold" pitchFamily="34" charset="0"/>
                <a:ea typeface="Outfit ExtraBold" pitchFamily="34" charset="-122"/>
                <a:cs typeface="Outfit ExtraBold" pitchFamily="34" charset="-120"/>
              </a:rPr>
              <a:t>Delay Distribution &amp; Profit by Delay Days</a:t>
            </a:r>
            <a:endParaRPr lang="en-US" sz="2200" dirty="0"/>
          </a:p>
        </p:txBody>
      </p:sp>
      <p:pic>
        <p:nvPicPr>
          <p:cNvPr id="5" name="Image 0" descr="preencoded.png">    </p:cNvPr>
          <p:cNvPicPr>
            <a:picLocks noChangeAspect="1"/>
          </p:cNvPicPr>
          <p:nvPr/>
        </p:nvPicPr>
        <p:blipFill>
          <a:blip r:embed="rId1"/>
          <a:stretch>
            <a:fillRect/>
          </a:stretch>
        </p:blipFill>
        <p:spPr>
          <a:xfrm>
            <a:off x="496119" y="1214363"/>
            <a:ext cx="3938736" cy="2835101"/>
          </a:xfrm>
          <a:prstGeom prst="rect">
            <a:avLst/>
          </a:prstGeom>
        </p:spPr>
      </p:pic>
      <p:pic>
        <p:nvPicPr>
          <p:cNvPr id="6" name="Image 1" descr="preencoded.png">    </p:cNvPr>
          <p:cNvPicPr>
            <a:picLocks noChangeAspect="1"/>
          </p:cNvPicPr>
          <p:nvPr/>
        </p:nvPicPr>
        <p:blipFill>
          <a:blip r:embed="rId2"/>
          <a:stretch>
            <a:fillRect/>
          </a:stretch>
        </p:blipFill>
        <p:spPr>
          <a:xfrm>
            <a:off x="4713908" y="1214363"/>
            <a:ext cx="3938736" cy="2835101"/>
          </a:xfrm>
          <a:prstGeom prst="rect">
            <a:avLst/>
          </a:prstGeom>
        </p:spPr>
      </p:pic>
      <p:sp>
        <p:nvSpPr>
          <p:cNvPr id="7" name="Text 3"/>
          <p:cNvSpPr/>
          <p:nvPr/>
        </p:nvSpPr>
        <p:spPr>
          <a:xfrm>
            <a:off x="496119" y="4278660"/>
            <a:ext cx="8151763" cy="514350"/>
          </a:xfrm>
          <a:prstGeom prst="rect">
            <a:avLst/>
          </a:prstGeom>
          <a:noFill/>
          <a:ln/>
        </p:spPr>
        <p:txBody>
          <a:bodyPr wrap="square" lIns="0" tIns="0" rIns="0" bIns="0" rtlCol="0" anchor="t">
            <a:normAutofit/>
          </a:bodyPr>
          <a:lstStyle/>
          <a:p>
            <a:pPr algn="l" indent="0" marL="0">
              <a:lnSpc>
                <a:spcPct val="127000"/>
              </a:lnSpc>
              <a:buNone/>
            </a:pPr>
            <a:r>
              <a:rPr lang="en-US" sz="850" b="1" dirty="0">
                <a:solidFill>
                  <a:srgbClr val="2A2742"/>
                </a:solidFill>
                <a:latin typeface="Arimo" pitchFamily="34" charset="0"/>
                <a:ea typeface="Arimo" pitchFamily="34" charset="-122"/>
                <a:cs typeface="Arimo" pitchFamily="34" charset="-120"/>
              </a:rPr>
              <a:t>31% of all orders arrive exactly one day late</a:t>
            </a:r>
            <a:pPr algn="l" indent="0" marL="0">
              <a:lnSpc>
                <a:spcPct val="127000"/>
              </a:lnSpc>
              <a:buNone/>
            </a:pPr>
            <a:r>
              <a:rPr lang="en-US" sz="850" dirty="0">
                <a:solidFill>
                  <a:srgbClr val="2A2742"/>
                </a:solidFill>
                <a:latin typeface="Arimo" pitchFamily="34" charset="0"/>
                <a:ea typeface="Arimo" pitchFamily="34" charset="-122"/>
                <a:cs typeface="Arimo" pitchFamily="34" charset="-120"/>
              </a:rPr>
              <a:t> — the single largest cohort. Combined, orders delayed 1–4 days account for 54.7% of total volume, directly mapping to the overall late-delivery rate. Critically, </a:t>
            </a:r>
            <a:pPr algn="l" indent="0" marL="0">
              <a:lnSpc>
                <a:spcPct val="127000"/>
              </a:lnSpc>
              <a:buNone/>
            </a:pPr>
            <a:r>
              <a:rPr lang="en-US" sz="850" b="1" dirty="0">
                <a:solidFill>
                  <a:srgbClr val="2A2742"/>
                </a:solidFill>
                <a:latin typeface="Arimo" pitchFamily="34" charset="0"/>
                <a:ea typeface="Arimo" pitchFamily="34" charset="-122"/>
                <a:cs typeface="Arimo" pitchFamily="34" charset="-120"/>
              </a:rPr>
              <a:t>mean profit per order remains stable at ~$20–$23</a:t>
            </a:r>
            <a:pPr algn="l" indent="0" marL="0">
              <a:lnSpc>
                <a:spcPct val="127000"/>
              </a:lnSpc>
              <a:buNone/>
            </a:pPr>
            <a:r>
              <a:rPr lang="en-US" sz="850" dirty="0">
                <a:solidFill>
                  <a:srgbClr val="2A2742"/>
                </a:solidFill>
                <a:latin typeface="Arimo" pitchFamily="34" charset="0"/>
                <a:ea typeface="Arimo" pitchFamily="34" charset="-122"/>
                <a:cs typeface="Arimo" pitchFamily="34" charset="-120"/>
              </a:rPr>
              <a:t> across all delay levels. The profitability problem is driven by the </a:t>
            </a:r>
            <a:pPr algn="l" indent="0" marL="0">
              <a:lnSpc>
                <a:spcPct val="127000"/>
              </a:lnSpc>
              <a:buNone/>
            </a:pPr>
            <a:r>
              <a:rPr lang="en-US" sz="850" i="1" dirty="0">
                <a:solidFill>
                  <a:srgbClr val="2A2742"/>
                </a:solidFill>
                <a:latin typeface="Arimo" pitchFamily="34" charset="0"/>
                <a:ea typeface="Arimo" pitchFamily="34" charset="-122"/>
                <a:cs typeface="Arimo" pitchFamily="34" charset="-120"/>
              </a:rPr>
              <a:t>volume</a:t>
            </a:r>
            <a:pPr algn="l" indent="0" marL="0">
              <a:lnSpc>
                <a:spcPct val="127000"/>
              </a:lnSpc>
              <a:buNone/>
            </a:pPr>
            <a:r>
              <a:rPr lang="en-US" sz="850" dirty="0">
                <a:solidFill>
                  <a:srgbClr val="2A2742"/>
                </a:solidFill>
                <a:latin typeface="Arimo" pitchFamily="34" charset="0"/>
                <a:ea typeface="Arimo" pitchFamily="34" charset="-122"/>
                <a:cs typeface="Arimo" pitchFamily="34" charset="-120"/>
              </a:rPr>
              <a:t> of delayed orders, not the economics of individual orders — making systemic throughput improvement the highest-leverage intervention.</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767655"/>
            <a:ext cx="1410965" cy="233214"/>
          </a:xfrm>
          <a:prstGeom prst="roundRect">
            <a:avLst>
              <a:gd name="adj" fmla="val 17872"/>
            </a:avLst>
          </a:prstGeom>
          <a:solidFill>
            <a:srgbClr val="D7D2F9"/>
          </a:solidFill>
          <a:ln/>
        </p:spPr>
      </p:sp>
      <p:sp>
        <p:nvSpPr>
          <p:cNvPr id="3" name="Text 1"/>
          <p:cNvSpPr/>
          <p:nvPr/>
        </p:nvSpPr>
        <p:spPr>
          <a:xfrm>
            <a:off x="570533" y="804863"/>
            <a:ext cx="1719337" cy="158800"/>
          </a:xfrm>
          <a:prstGeom prst="rect">
            <a:avLst/>
          </a:prstGeom>
          <a:noFill/>
          <a:ln/>
        </p:spPr>
        <p:txBody>
          <a:bodyPr wrap="none" lIns="0" tIns="0" rIns="0" bIns="0" rtlCol="0" anchor="t"/>
          <a:lstStyle/>
          <a:p>
            <a:pPr algn="l" indent="0" marL="0">
              <a:lnSpc>
                <a:spcPct val="133000"/>
              </a:lnSpc>
              <a:buNone/>
            </a:pPr>
            <a:r>
              <a:rPr lang="en-US" sz="750" dirty="0">
                <a:solidFill>
                  <a:srgbClr val="2A2742"/>
                </a:solidFill>
                <a:latin typeface="Arimo" pitchFamily="34" charset="0"/>
                <a:ea typeface="Arimo" pitchFamily="34" charset="-122"/>
                <a:cs typeface="Arimo" pitchFamily="34" charset="-120"/>
              </a:rPr>
              <a:t>BOTTLENECK DETECTION</a:t>
            </a:r>
            <a:endParaRPr lang="en-US" sz="750" dirty="0"/>
          </a:p>
        </p:txBody>
      </p:sp>
      <p:sp>
        <p:nvSpPr>
          <p:cNvPr id="4" name="Text 2"/>
          <p:cNvSpPr/>
          <p:nvPr/>
        </p:nvSpPr>
        <p:spPr>
          <a:xfrm>
            <a:off x="496119" y="1050429"/>
            <a:ext cx="6863581" cy="387548"/>
          </a:xfrm>
          <a:prstGeom prst="rect">
            <a:avLst/>
          </a:prstGeom>
          <a:noFill/>
          <a:ln/>
        </p:spPr>
        <p:txBody>
          <a:bodyPr wrap="none" lIns="0" tIns="0" rIns="0" bIns="0" rtlCol="0" anchor="t"/>
          <a:lstStyle/>
          <a:p>
            <a:pPr algn="l" indent="0" marL="0">
              <a:lnSpc>
                <a:spcPct val="104000"/>
              </a:lnSpc>
              <a:buNone/>
            </a:pPr>
            <a:r>
              <a:rPr lang="en-US" sz="2400" dirty="0">
                <a:solidFill>
                  <a:srgbClr val="231971"/>
                </a:solidFill>
                <a:latin typeface="Outfit ExtraBold" pitchFamily="34" charset="0"/>
                <a:ea typeface="Outfit ExtraBold" pitchFamily="34" charset="-122"/>
                <a:cs typeface="Outfit ExtraBold" pitchFamily="34" charset="-120"/>
              </a:rPr>
              <a:t>Delay Percentage by Operational Dimension</a:t>
            </a:r>
            <a:endParaRPr lang="en-US" sz="2400" dirty="0"/>
          </a:p>
        </p:txBody>
      </p:sp>
      <p:sp>
        <p:nvSpPr>
          <p:cNvPr id="5" name="Text 3"/>
          <p:cNvSpPr/>
          <p:nvPr/>
        </p:nvSpPr>
        <p:spPr>
          <a:xfrm>
            <a:off x="496119" y="1624012"/>
            <a:ext cx="8608963" cy="198462"/>
          </a:xfrm>
          <a:prstGeom prst="rect">
            <a:avLst/>
          </a:prstGeom>
          <a:noFill/>
          <a:ln/>
        </p:spPr>
        <p:txBody>
          <a:bodyPr wrap="none" lIns="0" tIns="0" rIns="0" bIns="0" rtlCol="0" anchor="t"/>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Delay percentage was computed across six key operational dimensions, revealing where the fulfillment process breaks down most severely.</a:t>
            </a:r>
            <a:endParaRPr lang="en-US" sz="950" dirty="0"/>
          </a:p>
        </p:txBody>
      </p:sp>
      <p:pic>
        <p:nvPicPr>
          <p:cNvPr id="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81831" y="1962001"/>
            <a:ext cx="4028182" cy="1144935"/>
          </a:xfrm>
          <a:prstGeom prst="rect">
            <a:avLst/>
          </a:prstGeom>
        </p:spPr>
      </p:pic>
      <p:sp>
        <p:nvSpPr>
          <p:cNvPr id="7" name="Text 4"/>
          <p:cNvSpPr/>
          <p:nvPr/>
        </p:nvSpPr>
        <p:spPr>
          <a:xfrm>
            <a:off x="677242" y="2100263"/>
            <a:ext cx="2087835"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Outfit ExtraBold" pitchFamily="34" charset="0"/>
                <a:ea typeface="Outfit ExtraBold" pitchFamily="34" charset="-122"/>
                <a:cs typeface="Outfit ExtraBold" pitchFamily="34" charset="-120"/>
              </a:rPr>
              <a:t>🚚</a:t>
            </a:r>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 Shipping Mode — #1 Lever</a:t>
            </a:r>
            <a:endParaRPr lang="en-US" sz="1200" dirty="0"/>
          </a:p>
        </p:txBody>
      </p:sp>
      <p:sp>
        <p:nvSpPr>
          <p:cNvPr id="8" name="Text 5"/>
          <p:cNvSpPr/>
          <p:nvPr/>
        </p:nvSpPr>
        <p:spPr>
          <a:xfrm>
            <a:off x="677242" y="2373288"/>
            <a:ext cx="3694509" cy="595387"/>
          </a:xfrm>
          <a:prstGeom prst="rect">
            <a:avLst/>
          </a:prstGeom>
          <a:noFill/>
          <a:ln/>
        </p:spPr>
        <p:txBody>
          <a:bodyPr wrap="square" lIns="0" tIns="0" rIns="0" bIns="0" rtlCol="0" anchor="t">
            <a:normAutofit/>
          </a:bodyPr>
          <a:lstStyle/>
          <a:p>
            <a:pPr algn="l" indent="0" marL="0">
              <a:lnSpc>
                <a:spcPct val="133000"/>
              </a:lnSpc>
              <a:buNone/>
            </a:pPr>
            <a:r>
              <a:rPr lang="en-US" sz="950" b="1" dirty="0">
                <a:solidFill>
                  <a:srgbClr val="2A2742"/>
                </a:solidFill>
                <a:latin typeface="Arimo" pitchFamily="34" charset="0"/>
                <a:ea typeface="Arimo" pitchFamily="34" charset="-122"/>
                <a:cs typeface="Arimo" pitchFamily="34" charset="-120"/>
              </a:rPr>
              <a:t>First Class: 100% delay rate. Second Class: 79.8%. Standard Class: 39.8%. Same Day: 0%.</a:t>
            </a:r>
            <a:pPr algn="l" indent="0" marL="0">
              <a:lnSpc>
                <a:spcPct val="133000"/>
              </a:lnSpc>
              <a:buNone/>
            </a:pPr>
            <a:r>
              <a:rPr lang="en-US" sz="950" dirty="0">
                <a:solidFill>
                  <a:srgbClr val="2A2742"/>
                </a:solidFill>
                <a:latin typeface="Arimo" pitchFamily="34" charset="0"/>
                <a:ea typeface="Arimo" pitchFamily="34" charset="-122"/>
                <a:cs typeface="Arimo" pitchFamily="34" charset="-120"/>
              </a:rPr>
              <a:t> Shipping-mode assignment logic is the single most impactful variable to fix.</a:t>
            </a:r>
            <a:endParaRPr lang="en-US" sz="950" dirty="0"/>
          </a:p>
        </p:txBody>
      </p:sp>
      <p:pic>
        <p:nvPicPr>
          <p:cNvPr id="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19699" y="1962001"/>
            <a:ext cx="4028182" cy="1144935"/>
          </a:xfrm>
          <a:prstGeom prst="rect">
            <a:avLst/>
          </a:prstGeom>
        </p:spPr>
      </p:pic>
      <p:sp>
        <p:nvSpPr>
          <p:cNvPr id="10" name="Text 6"/>
          <p:cNvSpPr/>
          <p:nvPr/>
        </p:nvSpPr>
        <p:spPr>
          <a:xfrm>
            <a:off x="4815111" y="2100263"/>
            <a:ext cx="2490192"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Outfit ExtraBold" pitchFamily="34" charset="0"/>
                <a:ea typeface="Outfit ExtraBold" pitchFamily="34" charset="-122"/>
                <a:cs typeface="Outfit ExtraBold" pitchFamily="34" charset="-120"/>
              </a:rPr>
              <a:t>🌍</a:t>
            </a:r>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 Order Region — Narrow Spread</a:t>
            </a:r>
            <a:endParaRPr lang="en-US" sz="1200" dirty="0"/>
          </a:p>
        </p:txBody>
      </p:sp>
      <p:sp>
        <p:nvSpPr>
          <p:cNvPr id="11" name="Text 7"/>
          <p:cNvSpPr/>
          <p:nvPr/>
        </p:nvSpPr>
        <p:spPr>
          <a:xfrm>
            <a:off x="4815111" y="2373288"/>
            <a:ext cx="3694509"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Central Africa leads at </a:t>
            </a:r>
            <a:pPr algn="l" indent="0" marL="0">
              <a:lnSpc>
                <a:spcPct val="133000"/>
              </a:lnSpc>
              <a:buNone/>
            </a:pPr>
            <a:r>
              <a:rPr lang="en-US" sz="950" b="1" dirty="0">
                <a:solidFill>
                  <a:srgbClr val="2A2742"/>
                </a:solidFill>
                <a:latin typeface="Arimo" pitchFamily="34" charset="0"/>
                <a:ea typeface="Arimo" pitchFamily="34" charset="-122"/>
                <a:cs typeface="Arimo" pitchFamily="34" charset="-120"/>
              </a:rPr>
              <a:t>58.7%</a:t>
            </a:r>
            <a:pPr algn="l" indent="0" marL="0">
              <a:lnSpc>
                <a:spcPct val="133000"/>
              </a:lnSpc>
              <a:buNone/>
            </a:pPr>
            <a:r>
              <a:rPr lang="en-US" sz="950" dirty="0">
                <a:solidFill>
                  <a:srgbClr val="2A2742"/>
                </a:solidFill>
                <a:latin typeface="Arimo" pitchFamily="34" charset="0"/>
                <a:ea typeface="Arimo" pitchFamily="34" charset="-122"/>
                <a:cs typeface="Arimo" pitchFamily="34" charset="-120"/>
              </a:rPr>
              <a:t>, but all regions cluster within a 55–59% band. This rules out a localized failure and confirms a </a:t>
            </a:r>
            <a:pPr algn="l" indent="0" marL="0">
              <a:lnSpc>
                <a:spcPct val="133000"/>
              </a:lnSpc>
              <a:buNone/>
            </a:pPr>
            <a:r>
              <a:rPr lang="en-US" sz="950" b="1" dirty="0">
                <a:solidFill>
                  <a:srgbClr val="2A2742"/>
                </a:solidFill>
                <a:latin typeface="Arimo" pitchFamily="34" charset="0"/>
                <a:ea typeface="Arimo" pitchFamily="34" charset="-122"/>
                <a:cs typeface="Arimo" pitchFamily="34" charset="-120"/>
              </a:rPr>
              <a:t>company-wide systemic issue</a:t>
            </a:r>
            <a:pPr algn="l" indent="0" marL="0">
              <a:lnSpc>
                <a:spcPct val="133000"/>
              </a:lnSpc>
              <a:buNone/>
            </a:pPr>
            <a:r>
              <a:rPr lang="en-US" sz="950" dirty="0">
                <a:solidFill>
                  <a:srgbClr val="2A2742"/>
                </a:solidFill>
                <a:latin typeface="Arimo" pitchFamily="34" charset="0"/>
                <a:ea typeface="Arimo" pitchFamily="34" charset="-122"/>
                <a:cs typeface="Arimo" pitchFamily="34" charset="-120"/>
              </a:rPr>
              <a:t>.</a:t>
            </a:r>
            <a:endParaRPr lang="en-US" sz="950" dirty="0"/>
          </a:p>
        </p:txBody>
      </p:sp>
      <p:pic>
        <p:nvPicPr>
          <p:cNvPr id="12"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1831" y="3230910"/>
            <a:ext cx="4028182" cy="1144935"/>
          </a:xfrm>
          <a:prstGeom prst="rect">
            <a:avLst/>
          </a:prstGeom>
        </p:spPr>
      </p:pic>
      <p:sp>
        <p:nvSpPr>
          <p:cNvPr id="13" name="Text 8"/>
          <p:cNvSpPr/>
          <p:nvPr/>
        </p:nvSpPr>
        <p:spPr>
          <a:xfrm>
            <a:off x="677242" y="3369171"/>
            <a:ext cx="2837706"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Outfit ExtraBold" pitchFamily="34" charset="0"/>
                <a:ea typeface="Outfit ExtraBold" pitchFamily="34" charset="-122"/>
                <a:cs typeface="Outfit ExtraBold" pitchFamily="34" charset="-120"/>
              </a:rPr>
              <a:t>👥</a:t>
            </a:r>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 Customer Segment — No Preference</a:t>
            </a:r>
            <a:endParaRPr lang="en-US" sz="1200" dirty="0"/>
          </a:p>
        </p:txBody>
      </p:sp>
      <p:sp>
        <p:nvSpPr>
          <p:cNvPr id="14" name="Text 9"/>
          <p:cNvSpPr/>
          <p:nvPr/>
        </p:nvSpPr>
        <p:spPr>
          <a:xfrm>
            <a:off x="677242" y="3642196"/>
            <a:ext cx="3694509"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Home Office (55.4%), Consumer (54.6%), and Corporate (54.5%) all experience nearly identical delay rates — </a:t>
            </a:r>
            <a:pPr algn="l" indent="0" marL="0">
              <a:lnSpc>
                <a:spcPct val="133000"/>
              </a:lnSpc>
              <a:buNone/>
            </a:pPr>
            <a:r>
              <a:rPr lang="en-US" sz="950" b="1" dirty="0">
                <a:solidFill>
                  <a:srgbClr val="2A2742"/>
                </a:solidFill>
                <a:latin typeface="Arimo" pitchFamily="34" charset="0"/>
                <a:ea typeface="Arimo" pitchFamily="34" charset="-122"/>
                <a:cs typeface="Arimo" pitchFamily="34" charset="-120"/>
              </a:rPr>
              <a:t>no segment receives preferential service</a:t>
            </a:r>
            <a:pPr algn="l" indent="0" marL="0">
              <a:lnSpc>
                <a:spcPct val="133000"/>
              </a:lnSpc>
              <a:buNone/>
            </a:pPr>
            <a:r>
              <a:rPr lang="en-US" sz="950" dirty="0">
                <a:solidFill>
                  <a:srgbClr val="2A2742"/>
                </a:solidFill>
                <a:latin typeface="Arimo" pitchFamily="34" charset="0"/>
                <a:ea typeface="Arimo" pitchFamily="34" charset="-122"/>
                <a:cs typeface="Arimo" pitchFamily="34" charset="-120"/>
              </a:rPr>
              <a:t>.</a:t>
            </a:r>
            <a:endParaRPr lang="en-US" sz="9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619699" y="3230910"/>
            <a:ext cx="4028182" cy="1144935"/>
          </a:xfrm>
          <a:prstGeom prst="rect">
            <a:avLst/>
          </a:prstGeom>
        </p:spPr>
      </p:pic>
      <p:sp>
        <p:nvSpPr>
          <p:cNvPr id="16" name="Text 10"/>
          <p:cNvSpPr/>
          <p:nvPr/>
        </p:nvSpPr>
        <p:spPr>
          <a:xfrm>
            <a:off x="4815111" y="3369171"/>
            <a:ext cx="2641476" cy="198611"/>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Outfit ExtraBold" pitchFamily="34" charset="0"/>
                <a:ea typeface="Outfit ExtraBold" pitchFamily="34" charset="-122"/>
                <a:cs typeface="Outfit ExtraBold" pitchFamily="34" charset="-120"/>
              </a:rPr>
              <a:t>📦</a:t>
            </a:r>
            <a:pPr algn="l" indent="0" marL="0">
              <a:lnSpc>
                <a:spcPct val="104000"/>
              </a:lnSpc>
              <a:buNone/>
            </a:pPr>
            <a:r>
              <a:rPr lang="en-US" sz="1200" dirty="0">
                <a:solidFill>
                  <a:srgbClr val="2A2742"/>
                </a:solidFill>
                <a:latin typeface="Outfit ExtraBold" pitchFamily="34" charset="0"/>
                <a:ea typeface="Outfit ExtraBold" pitchFamily="34" charset="-122"/>
                <a:cs typeface="Outfit ExtraBold" pitchFamily="34" charset="-120"/>
              </a:rPr>
              <a:t> Department — Marginal Variance</a:t>
            </a:r>
            <a:endParaRPr lang="en-US" sz="1200" dirty="0"/>
          </a:p>
        </p:txBody>
      </p:sp>
      <p:sp>
        <p:nvSpPr>
          <p:cNvPr id="17" name="Text 11"/>
          <p:cNvSpPr/>
          <p:nvPr/>
        </p:nvSpPr>
        <p:spPr>
          <a:xfrm>
            <a:off x="4815111" y="3642196"/>
            <a:ext cx="3694509" cy="595387"/>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A2742"/>
                </a:solidFill>
                <a:latin typeface="Arimo" pitchFamily="34" charset="0"/>
                <a:ea typeface="Arimo" pitchFamily="34" charset="-122"/>
                <a:cs typeface="Arimo" pitchFamily="34" charset="-120"/>
              </a:rPr>
              <a:t>Health &amp; Beauty (56.9%) and Pet Shop (56.6%) lead by department, warranting an </a:t>
            </a:r>
            <a:pPr algn="l" indent="0" marL="0">
              <a:lnSpc>
                <a:spcPct val="133000"/>
              </a:lnSpc>
              <a:buNone/>
            </a:pPr>
            <a:r>
              <a:rPr lang="en-US" sz="950" b="1" dirty="0">
                <a:solidFill>
                  <a:srgbClr val="2A2742"/>
                </a:solidFill>
                <a:latin typeface="Arimo" pitchFamily="34" charset="0"/>
                <a:ea typeface="Arimo" pitchFamily="34" charset="-122"/>
                <a:cs typeface="Arimo" pitchFamily="34" charset="-120"/>
              </a:rPr>
              <a:t>inventory and carrier audit</a:t>
            </a:r>
            <a:pPr algn="l" indent="0" marL="0">
              <a:lnSpc>
                <a:spcPct val="133000"/>
              </a:lnSpc>
              <a:buNone/>
            </a:pPr>
            <a:r>
              <a:rPr lang="en-US" sz="950" dirty="0">
                <a:solidFill>
                  <a:srgbClr val="2A2742"/>
                </a:solidFill>
                <a:latin typeface="Arimo" pitchFamily="34" charset="0"/>
                <a:ea typeface="Arimo" pitchFamily="34" charset="-122"/>
                <a:cs typeface="Arimo" pitchFamily="34" charset="-120"/>
              </a:rPr>
              <a:t> for these product categories.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96119" y="473273"/>
            <a:ext cx="1242120" cy="218554"/>
          </a:xfrm>
          <a:prstGeom prst="roundRect">
            <a:avLst>
              <a:gd name="adj" fmla="val 18177"/>
            </a:avLst>
          </a:prstGeom>
          <a:solidFill>
            <a:srgbClr val="D7D2F9"/>
          </a:solidFill>
          <a:ln/>
        </p:spPr>
      </p:sp>
      <p:sp>
        <p:nvSpPr>
          <p:cNvPr id="3" name="Text 1"/>
          <p:cNvSpPr/>
          <p:nvPr/>
        </p:nvSpPr>
        <p:spPr>
          <a:xfrm>
            <a:off x="567035" y="508695"/>
            <a:ext cx="1557486" cy="147712"/>
          </a:xfrm>
          <a:prstGeom prst="rect">
            <a:avLst/>
          </a:prstGeom>
          <a:noFill/>
          <a:ln/>
        </p:spPr>
        <p:txBody>
          <a:bodyPr wrap="none" lIns="0" tIns="0" rIns="0" bIns="0" rtlCol="0" anchor="t"/>
          <a:lstStyle/>
          <a:p>
            <a:pPr algn="l" indent="0" marL="0">
              <a:lnSpc>
                <a:spcPct val="130000"/>
              </a:lnSpc>
              <a:buNone/>
            </a:pPr>
            <a:r>
              <a:rPr lang="en-US" sz="700" dirty="0">
                <a:solidFill>
                  <a:srgbClr val="2A2742"/>
                </a:solidFill>
                <a:latin typeface="Arimo" pitchFamily="34" charset="0"/>
                <a:ea typeface="Arimo" pitchFamily="34" charset="-122"/>
                <a:cs typeface="Arimo" pitchFamily="34" charset="-120"/>
              </a:rPr>
              <a:t>ROOT CAUSE ANALYSIS</a:t>
            </a:r>
            <a:endParaRPr lang="en-US" sz="700" dirty="0"/>
          </a:p>
        </p:txBody>
      </p:sp>
      <p:sp>
        <p:nvSpPr>
          <p:cNvPr id="4" name="Text 2"/>
          <p:cNvSpPr/>
          <p:nvPr/>
        </p:nvSpPr>
        <p:spPr>
          <a:xfrm>
            <a:off x="496119" y="736848"/>
            <a:ext cx="8541469" cy="369466"/>
          </a:xfrm>
          <a:prstGeom prst="rect">
            <a:avLst/>
          </a:prstGeom>
          <a:noFill/>
          <a:ln/>
        </p:spPr>
        <p:txBody>
          <a:bodyPr wrap="none" lIns="0" tIns="0" rIns="0" bIns="0" rtlCol="0" anchor="t"/>
          <a:lstStyle/>
          <a:p>
            <a:pPr algn="l" indent="0" marL="0">
              <a:lnSpc>
                <a:spcPct val="104000"/>
              </a:lnSpc>
              <a:buNone/>
            </a:pPr>
            <a:r>
              <a:rPr lang="en-US" sz="2300" dirty="0">
                <a:solidFill>
                  <a:srgbClr val="231971"/>
                </a:solidFill>
                <a:latin typeface="Outfit ExtraBold" pitchFamily="34" charset="0"/>
                <a:ea typeface="Outfit ExtraBold" pitchFamily="34" charset="-122"/>
                <a:cs typeface="Outfit ExtraBold" pitchFamily="34" charset="-120"/>
              </a:rPr>
              <a:t>Deep Dive: Top 10 Drivers of Late Delivery in Central Africa</a:t>
            </a:r>
            <a:endParaRPr lang="en-US" sz="2300" dirty="0"/>
          </a:p>
        </p:txBody>
      </p:sp>
      <p:sp>
        <p:nvSpPr>
          <p:cNvPr id="5" name="Text 3"/>
          <p:cNvSpPr/>
          <p:nvPr/>
        </p:nvSpPr>
        <p:spPr>
          <a:xfrm>
            <a:off x="496119" y="1275308"/>
            <a:ext cx="8608963" cy="184696"/>
          </a:xfrm>
          <a:prstGeom prst="rect">
            <a:avLst/>
          </a:prstGeom>
          <a:noFill/>
          <a:ln/>
        </p:spPr>
        <p:txBody>
          <a:bodyPr wrap="none" lIns="0" tIns="0" rIns="0" bIns="0" rtlCol="0" anchor="t"/>
          <a:lstStyle/>
          <a:p>
            <a:pPr algn="l" indent="0" marL="0">
              <a:lnSpc>
                <a:spcPct val="130000"/>
              </a:lnSpc>
              <a:buNone/>
            </a:pPr>
            <a:r>
              <a:rPr lang="en-US" sz="900" dirty="0">
                <a:solidFill>
                  <a:srgbClr val="2A2742"/>
                </a:solidFill>
                <a:latin typeface="Arimo" pitchFamily="34" charset="0"/>
                <a:ea typeface="Arimo" pitchFamily="34" charset="-122"/>
                <a:cs typeface="Arimo" pitchFamily="34" charset="-120"/>
              </a:rPr>
              <a:t>Central Africa was selected for deep-dive analysis as the highest-delay region (58.7%). The pattern mirrors — and amplifies — company-wide findings.</a:t>
            </a:r>
            <a:endParaRPr lang="en-US" sz="900" dirty="0"/>
          </a:p>
        </p:txBody>
      </p:sp>
      <p:pic>
        <p:nvPicPr>
          <p:cNvPr id="6" name="Image 0" descr="preencoded.png">    </p:cNvPr>
          <p:cNvPicPr>
            <a:picLocks noChangeAspect="1"/>
          </p:cNvPicPr>
          <p:nvPr/>
        </p:nvPicPr>
        <p:blipFill>
          <a:blip r:embed="rId1"/>
          <a:stretch>
            <a:fillRect/>
          </a:stretch>
        </p:blipFill>
        <p:spPr>
          <a:xfrm>
            <a:off x="496119" y="1713458"/>
            <a:ext cx="3931667" cy="2829967"/>
          </a:xfrm>
          <a:prstGeom prst="rect">
            <a:avLst/>
          </a:prstGeom>
        </p:spPr>
      </p:pic>
      <p:sp>
        <p:nvSpPr>
          <p:cNvPr id="7" name="Text 4"/>
          <p:cNvSpPr/>
          <p:nvPr/>
        </p:nvSpPr>
        <p:spPr>
          <a:xfrm>
            <a:off x="4720977" y="1688083"/>
            <a:ext cx="3931667" cy="923479"/>
          </a:xfrm>
          <a:prstGeom prst="rect">
            <a:avLst/>
          </a:prstGeom>
          <a:noFill/>
          <a:ln/>
        </p:spPr>
        <p:txBody>
          <a:bodyPr wrap="square" lIns="0" tIns="0" rIns="0" bIns="0" rtlCol="0" anchor="t">
            <a:normAutofit/>
          </a:bodyPr>
          <a:lstStyle/>
          <a:p>
            <a:pPr algn="l" indent="0" marL="0">
              <a:lnSpc>
                <a:spcPct val="130000"/>
              </a:lnSpc>
              <a:buNone/>
            </a:pPr>
            <a:r>
              <a:rPr lang="en-US" sz="900" b="1" dirty="0">
                <a:solidFill>
                  <a:srgbClr val="2A2742"/>
                </a:solidFill>
                <a:latin typeface="Arimo" pitchFamily="34" charset="0"/>
                <a:ea typeface="Arimo" pitchFamily="34" charset="-122"/>
                <a:cs typeface="Arimo" pitchFamily="34" charset="-120"/>
              </a:rPr>
              <a:t>First Class shipping reaches 100% delay rate</a:t>
            </a:r>
            <a:pPr algn="l" indent="0" marL="0">
              <a:lnSpc>
                <a:spcPct val="130000"/>
              </a:lnSpc>
              <a:buNone/>
            </a:pPr>
            <a:r>
              <a:rPr lang="en-US" sz="900" dirty="0">
                <a:solidFill>
                  <a:srgbClr val="2A2742"/>
                </a:solidFill>
                <a:latin typeface="Arimo" pitchFamily="34" charset="0"/>
                <a:ea typeface="Arimo" pitchFamily="34" charset="-122"/>
                <a:cs typeface="Arimo" pitchFamily="34" charset="-120"/>
              </a:rPr>
              <a:t>; Second Class hits 82.8%. Orders held in PAYMENT_REVIEW status are delayed 80.0% of the time. Outdoors (61.3%) and Golf (60.8%) departments rank among top drivers, indicating a region-specific inventory and carrier issue layered on top of systemic shipping-mode and payment-processing problems.</a:t>
            </a:r>
            <a:endParaRPr lang="en-US" sz="900" dirty="0"/>
          </a:p>
        </p:txBody>
      </p:sp>
      <p:sp>
        <p:nvSpPr>
          <p:cNvPr id="8" name="Shape 5"/>
          <p:cNvSpPr/>
          <p:nvPr/>
        </p:nvSpPr>
        <p:spPr>
          <a:xfrm>
            <a:off x="4720977" y="2738289"/>
            <a:ext cx="3931667" cy="815876"/>
          </a:xfrm>
          <a:prstGeom prst="roundRect">
            <a:avLst>
              <a:gd name="adj" fmla="val 6086"/>
            </a:avLst>
          </a:prstGeom>
          <a:solidFill>
            <a:srgbClr val="FCF2B5"/>
          </a:solidFill>
          <a:ln/>
        </p:spPr>
      </p:sp>
      <p:pic>
        <p:nvPicPr>
          <p:cNvPr id="9" name="Image 1" descr="preencoded.png">    </p:cNvPr>
          <p:cNvPicPr>
            <a:picLocks noChangeAspect="1"/>
          </p:cNvPicPr>
          <p:nvPr/>
        </p:nvPicPr>
        <p:blipFill>
          <a:blip r:embed="rId2"/>
          <a:stretch>
            <a:fillRect/>
          </a:stretch>
        </p:blipFill>
        <p:spPr>
          <a:xfrm>
            <a:off x="4839146" y="2911153"/>
            <a:ext cx="147786" cy="118170"/>
          </a:xfrm>
          <a:prstGeom prst="rect">
            <a:avLst/>
          </a:prstGeom>
        </p:spPr>
      </p:pic>
      <p:sp>
        <p:nvSpPr>
          <p:cNvPr id="10" name="Text 6"/>
          <p:cNvSpPr/>
          <p:nvPr/>
        </p:nvSpPr>
        <p:spPr>
          <a:xfrm>
            <a:off x="5105102" y="2869183"/>
            <a:ext cx="3429372" cy="554087"/>
          </a:xfrm>
          <a:prstGeom prst="rect">
            <a:avLst/>
          </a:prstGeom>
          <a:noFill/>
          <a:ln/>
        </p:spPr>
        <p:txBody>
          <a:bodyPr wrap="square" lIns="0" tIns="0" rIns="0" bIns="0" rtlCol="0" anchor="t">
            <a:normAutofit/>
          </a:bodyPr>
          <a:lstStyle/>
          <a:p>
            <a:pPr algn="l" indent="0" marL="0">
              <a:lnSpc>
                <a:spcPct val="130000"/>
              </a:lnSpc>
              <a:buNone/>
            </a:pPr>
            <a:r>
              <a:rPr lang="en-US" sz="900" dirty="0">
                <a:solidFill>
                  <a:srgbClr val="000000"/>
                </a:solidFill>
                <a:latin typeface="Arimo" pitchFamily="34" charset="0"/>
                <a:ea typeface="Arimo" pitchFamily="34" charset="-122"/>
                <a:cs typeface="Arimo" pitchFamily="34" charset="-120"/>
              </a:rPr>
              <a:t>The three dominant root causes are: (1) Shipping-mode misconfiguration, (2) Payment-processing friction, and (3) Regional inventory/carrier gaps.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827336" y="379735"/>
            <a:ext cx="960313" cy="164157"/>
          </a:xfrm>
          <a:prstGeom prst="roundRect">
            <a:avLst>
              <a:gd name="adj" fmla="val 19439"/>
            </a:avLst>
          </a:prstGeom>
          <a:solidFill>
            <a:srgbClr val="D7D2F9"/>
          </a:solidFill>
          <a:ln/>
        </p:spPr>
      </p:sp>
      <p:sp>
        <p:nvSpPr>
          <p:cNvPr id="3" name="Text 1"/>
          <p:cNvSpPr/>
          <p:nvPr/>
        </p:nvSpPr>
        <p:spPr>
          <a:xfrm>
            <a:off x="884262" y="408161"/>
            <a:ext cx="1303660" cy="107305"/>
          </a:xfrm>
          <a:prstGeom prst="rect">
            <a:avLst/>
          </a:prstGeom>
          <a:noFill/>
          <a:ln/>
        </p:spPr>
        <p:txBody>
          <a:bodyPr wrap="none" lIns="0" tIns="0" rIns="0" bIns="0" rtlCol="0" anchor="t"/>
          <a:lstStyle/>
          <a:p>
            <a:pPr algn="l" indent="0" marL="0">
              <a:lnSpc>
                <a:spcPct val="118000"/>
              </a:lnSpc>
              <a:buNone/>
            </a:pPr>
            <a:r>
              <a:rPr lang="en-US" sz="550" dirty="0">
                <a:solidFill>
                  <a:srgbClr val="2A2742"/>
                </a:solidFill>
                <a:latin typeface="Arimo" pitchFamily="34" charset="0"/>
                <a:ea typeface="Arimo" pitchFamily="34" charset="-122"/>
                <a:cs typeface="Arimo" pitchFamily="34" charset="-120"/>
              </a:rPr>
              <a:t>TIME-BASED ANALYSIS</a:t>
            </a:r>
            <a:endParaRPr lang="en-US" sz="550" dirty="0"/>
          </a:p>
        </p:txBody>
      </p:sp>
      <p:sp>
        <p:nvSpPr>
          <p:cNvPr id="4" name="Text 2"/>
          <p:cNvSpPr/>
          <p:nvPr/>
        </p:nvSpPr>
        <p:spPr>
          <a:xfrm>
            <a:off x="827336" y="572914"/>
            <a:ext cx="5955953" cy="296763"/>
          </a:xfrm>
          <a:prstGeom prst="rect">
            <a:avLst/>
          </a:prstGeom>
          <a:noFill/>
          <a:ln/>
        </p:spPr>
        <p:txBody>
          <a:bodyPr wrap="none" lIns="0" tIns="0" rIns="0" bIns="0" rtlCol="0" anchor="t"/>
          <a:lstStyle/>
          <a:p>
            <a:pPr algn="l" indent="0" marL="0">
              <a:lnSpc>
                <a:spcPct val="104000"/>
              </a:lnSpc>
              <a:buNone/>
            </a:pPr>
            <a:r>
              <a:rPr lang="en-US" sz="1850" dirty="0">
                <a:solidFill>
                  <a:srgbClr val="231971"/>
                </a:solidFill>
                <a:latin typeface="Outfit ExtraBold" pitchFamily="34" charset="0"/>
                <a:ea typeface="Outfit ExtraBold" pitchFamily="34" charset="-122"/>
                <a:cs typeface="Outfit ExtraBold" pitchFamily="34" charset="-120"/>
              </a:rPr>
              <a:t>Delay Rates by Month, Day of Week &amp; Hour of Day</a:t>
            </a:r>
            <a:endParaRPr lang="en-US" sz="1850" dirty="0"/>
          </a:p>
        </p:txBody>
      </p:sp>
      <p:pic>
        <p:nvPicPr>
          <p:cNvPr id="5" name="Image 0" descr="preencoded.png">    </p:cNvPr>
          <p:cNvPicPr>
            <a:picLocks noChangeAspect="1"/>
          </p:cNvPicPr>
          <p:nvPr/>
        </p:nvPicPr>
        <p:blipFill>
          <a:blip r:embed="rId1"/>
          <a:stretch>
            <a:fillRect/>
          </a:stretch>
        </p:blipFill>
        <p:spPr>
          <a:xfrm>
            <a:off x="827336" y="1060475"/>
            <a:ext cx="3628727" cy="2611934"/>
          </a:xfrm>
          <a:prstGeom prst="rect">
            <a:avLst/>
          </a:prstGeom>
        </p:spPr>
      </p:pic>
      <p:pic>
        <p:nvPicPr>
          <p:cNvPr id="6" name="Image 1" descr="preencoded.png">    </p:cNvPr>
          <p:cNvPicPr>
            <a:picLocks noChangeAspect="1"/>
          </p:cNvPicPr>
          <p:nvPr/>
        </p:nvPicPr>
        <p:blipFill>
          <a:blip r:embed="rId2"/>
          <a:stretch>
            <a:fillRect/>
          </a:stretch>
        </p:blipFill>
        <p:spPr>
          <a:xfrm>
            <a:off x="4692551" y="1060475"/>
            <a:ext cx="3628727" cy="2611934"/>
          </a:xfrm>
          <a:prstGeom prst="rect">
            <a:avLst/>
          </a:prstGeom>
        </p:spPr>
      </p:pic>
      <p:sp>
        <p:nvSpPr>
          <p:cNvPr id="7" name="Shape 3"/>
          <p:cNvSpPr/>
          <p:nvPr/>
        </p:nvSpPr>
        <p:spPr>
          <a:xfrm>
            <a:off x="827336" y="3835971"/>
            <a:ext cx="2447925" cy="927720"/>
          </a:xfrm>
          <a:prstGeom prst="roundRect">
            <a:avLst>
              <a:gd name="adj" fmla="val 4300"/>
            </a:avLst>
          </a:prstGeom>
          <a:solidFill>
            <a:srgbClr val="E9E6FA"/>
          </a:solidFill>
          <a:ln w="4763">
            <a:solidFill>
              <a:srgbClr val="BDB8DF"/>
            </a:solidFill>
            <a:prstDash val="solid"/>
          </a:ln>
        </p:spPr>
      </p:sp>
      <p:sp>
        <p:nvSpPr>
          <p:cNvPr id="8" name="Text 4"/>
          <p:cNvSpPr/>
          <p:nvPr/>
        </p:nvSpPr>
        <p:spPr>
          <a:xfrm>
            <a:off x="927050" y="3935685"/>
            <a:ext cx="1187128" cy="148307"/>
          </a:xfrm>
          <a:prstGeom prst="rect">
            <a:avLst/>
          </a:prstGeom>
          <a:noFill/>
          <a:ln/>
        </p:spPr>
        <p:txBody>
          <a:bodyPr wrap="none" lIns="0" tIns="0" rIns="0" bIns="0" rtlCol="0" anchor="t"/>
          <a:lstStyle/>
          <a:p>
            <a:pPr algn="l" indent="0" marL="0">
              <a:lnSpc>
                <a:spcPct val="104000"/>
              </a:lnSpc>
              <a:buNone/>
            </a:pPr>
            <a:r>
              <a:rPr lang="en-US" sz="900" dirty="0">
                <a:solidFill>
                  <a:srgbClr val="2A2742"/>
                </a:solidFill>
                <a:latin typeface="Outfit ExtraBold" pitchFamily="34" charset="0"/>
                <a:ea typeface="Outfit ExtraBold" pitchFamily="34" charset="-122"/>
                <a:cs typeface="Outfit ExtraBold" pitchFamily="34" charset="-120"/>
              </a:rPr>
              <a:t>Peak Months</a:t>
            </a:r>
            <a:endParaRPr lang="en-US" sz="900" dirty="0"/>
          </a:p>
        </p:txBody>
      </p:sp>
      <p:sp>
        <p:nvSpPr>
          <p:cNvPr id="9" name="Text 5"/>
          <p:cNvSpPr/>
          <p:nvPr/>
        </p:nvSpPr>
        <p:spPr>
          <a:xfrm>
            <a:off x="927050" y="4127599"/>
            <a:ext cx="2248495" cy="536377"/>
          </a:xfrm>
          <a:prstGeom prst="rect">
            <a:avLst/>
          </a:prstGeom>
          <a:noFill/>
          <a:ln/>
        </p:spPr>
        <p:txBody>
          <a:bodyPr wrap="square" lIns="0" tIns="0" rIns="0" bIns="0" rtlCol="0" anchor="t">
            <a:normAutofit/>
          </a:bodyPr>
          <a:lstStyle/>
          <a:p>
            <a:pPr algn="l" indent="0" marL="0">
              <a:lnSpc>
                <a:spcPct val="118000"/>
              </a:lnSpc>
              <a:buNone/>
            </a:pPr>
            <a:r>
              <a:rPr lang="en-US" sz="700" dirty="0">
                <a:solidFill>
                  <a:srgbClr val="2A2742"/>
                </a:solidFill>
                <a:latin typeface="Arimo" pitchFamily="34" charset="0"/>
                <a:ea typeface="Arimo" pitchFamily="34" charset="-122"/>
                <a:cs typeface="Arimo" pitchFamily="34" charset="-120"/>
              </a:rPr>
              <a:t>August &amp; September (55.4%) and December (55.2%) reflect mid-year promotions and Q4 holiday surges. July is a notable low (53.7%), confirming seasonal variation is </a:t>
            </a:r>
            <a:pPr algn="l" indent="0" marL="0">
              <a:lnSpc>
                <a:spcPct val="118000"/>
              </a:lnSpc>
              <a:buNone/>
            </a:pPr>
            <a:r>
              <a:rPr lang="en-US" sz="700" b="1" dirty="0">
                <a:solidFill>
                  <a:srgbClr val="2A2742"/>
                </a:solidFill>
                <a:latin typeface="Arimo" pitchFamily="34" charset="0"/>
                <a:ea typeface="Arimo" pitchFamily="34" charset="-122"/>
                <a:cs typeface="Arimo" pitchFamily="34" charset="-120"/>
              </a:rPr>
              <a:t>predictable and plannable</a:t>
            </a:r>
            <a:pPr algn="l" indent="0" marL="0">
              <a:lnSpc>
                <a:spcPct val="118000"/>
              </a:lnSpc>
              <a:buNone/>
            </a:pPr>
            <a:r>
              <a:rPr lang="en-US" sz="700" dirty="0">
                <a:solidFill>
                  <a:srgbClr val="2A2742"/>
                </a:solidFill>
                <a:latin typeface="Arimo" pitchFamily="34" charset="0"/>
                <a:ea typeface="Arimo" pitchFamily="34" charset="-122"/>
                <a:cs typeface="Arimo" pitchFamily="34" charset="-120"/>
              </a:rPr>
              <a:t>.</a:t>
            </a:r>
            <a:endParaRPr lang="en-US" sz="700" dirty="0"/>
          </a:p>
        </p:txBody>
      </p:sp>
      <p:sp>
        <p:nvSpPr>
          <p:cNvPr id="10" name="Shape 6"/>
          <p:cNvSpPr/>
          <p:nvPr/>
        </p:nvSpPr>
        <p:spPr>
          <a:xfrm>
            <a:off x="3347963" y="3835971"/>
            <a:ext cx="2447925" cy="927720"/>
          </a:xfrm>
          <a:prstGeom prst="roundRect">
            <a:avLst>
              <a:gd name="adj" fmla="val 4300"/>
            </a:avLst>
          </a:prstGeom>
          <a:solidFill>
            <a:srgbClr val="E9E6FA"/>
          </a:solidFill>
          <a:ln w="4763">
            <a:solidFill>
              <a:srgbClr val="BDB8DF"/>
            </a:solidFill>
            <a:prstDash val="solid"/>
          </a:ln>
        </p:spPr>
      </p:sp>
      <p:sp>
        <p:nvSpPr>
          <p:cNvPr id="11" name="Text 7"/>
          <p:cNvSpPr/>
          <p:nvPr/>
        </p:nvSpPr>
        <p:spPr>
          <a:xfrm>
            <a:off x="3447678" y="3935685"/>
            <a:ext cx="1187128" cy="148307"/>
          </a:xfrm>
          <a:prstGeom prst="rect">
            <a:avLst/>
          </a:prstGeom>
          <a:noFill/>
          <a:ln/>
        </p:spPr>
        <p:txBody>
          <a:bodyPr wrap="none" lIns="0" tIns="0" rIns="0" bIns="0" rtlCol="0" anchor="t"/>
          <a:lstStyle/>
          <a:p>
            <a:pPr algn="l" indent="0" marL="0">
              <a:lnSpc>
                <a:spcPct val="104000"/>
              </a:lnSpc>
              <a:buNone/>
            </a:pPr>
            <a:r>
              <a:rPr lang="en-US" sz="900" dirty="0">
                <a:solidFill>
                  <a:srgbClr val="2A2742"/>
                </a:solidFill>
                <a:latin typeface="Outfit ExtraBold" pitchFamily="34" charset="0"/>
                <a:ea typeface="Outfit ExtraBold" pitchFamily="34" charset="-122"/>
                <a:cs typeface="Outfit ExtraBold" pitchFamily="34" charset="-120"/>
              </a:rPr>
              <a:t>Day of Week</a:t>
            </a:r>
            <a:endParaRPr lang="en-US" sz="900" dirty="0"/>
          </a:p>
        </p:txBody>
      </p:sp>
      <p:sp>
        <p:nvSpPr>
          <p:cNvPr id="12" name="Text 8"/>
          <p:cNvSpPr/>
          <p:nvPr/>
        </p:nvSpPr>
        <p:spPr>
          <a:xfrm>
            <a:off x="3447678" y="4127599"/>
            <a:ext cx="2248495" cy="402282"/>
          </a:xfrm>
          <a:prstGeom prst="rect">
            <a:avLst/>
          </a:prstGeom>
          <a:noFill/>
          <a:ln/>
        </p:spPr>
        <p:txBody>
          <a:bodyPr wrap="square" lIns="0" tIns="0" rIns="0" bIns="0" rtlCol="0" anchor="t">
            <a:normAutofit/>
          </a:bodyPr>
          <a:lstStyle/>
          <a:p>
            <a:pPr algn="l" indent="0" marL="0">
              <a:lnSpc>
                <a:spcPct val="118000"/>
              </a:lnSpc>
              <a:buNone/>
            </a:pPr>
            <a:r>
              <a:rPr lang="en-US" sz="700" dirty="0">
                <a:solidFill>
                  <a:srgbClr val="2A2742"/>
                </a:solidFill>
                <a:latin typeface="Arimo" pitchFamily="34" charset="0"/>
                <a:ea typeface="Arimo" pitchFamily="34" charset="-122"/>
                <a:cs typeface="Arimo" pitchFamily="34" charset="-120"/>
              </a:rPr>
              <a:t>Monday (55.5%) and Sunday (55.2%) are peak days, but spread is under one percentage point. </a:t>
            </a:r>
            <a:pPr algn="l" indent="0" marL="0">
              <a:lnSpc>
                <a:spcPct val="118000"/>
              </a:lnSpc>
              <a:buNone/>
            </a:pPr>
            <a:r>
              <a:rPr lang="en-US" sz="700" b="1" dirty="0">
                <a:solidFill>
                  <a:srgbClr val="2A2742"/>
                </a:solidFill>
                <a:latin typeface="Arimo" pitchFamily="34" charset="0"/>
                <a:ea typeface="Arimo" pitchFamily="34" charset="-122"/>
                <a:cs typeface="Arimo" pitchFamily="34" charset="-120"/>
              </a:rPr>
              <a:t>Day of week is not a meaningful lever</a:t>
            </a:r>
            <a:pPr algn="l" indent="0" marL="0">
              <a:lnSpc>
                <a:spcPct val="118000"/>
              </a:lnSpc>
              <a:buNone/>
            </a:pPr>
            <a:r>
              <a:rPr lang="en-US" sz="700" dirty="0">
                <a:solidFill>
                  <a:srgbClr val="2A2742"/>
                </a:solidFill>
                <a:latin typeface="Arimo" pitchFamily="34" charset="0"/>
                <a:ea typeface="Arimo" pitchFamily="34" charset="-122"/>
                <a:cs typeface="Arimo" pitchFamily="34" charset="-120"/>
              </a:rPr>
              <a:t> for intervention.</a:t>
            </a:r>
            <a:endParaRPr lang="en-US" sz="700" dirty="0"/>
          </a:p>
        </p:txBody>
      </p:sp>
      <p:sp>
        <p:nvSpPr>
          <p:cNvPr id="13" name="Shape 9"/>
          <p:cNvSpPr/>
          <p:nvPr/>
        </p:nvSpPr>
        <p:spPr>
          <a:xfrm>
            <a:off x="5868591" y="3835971"/>
            <a:ext cx="2447999" cy="927720"/>
          </a:xfrm>
          <a:prstGeom prst="roundRect">
            <a:avLst>
              <a:gd name="adj" fmla="val 4300"/>
            </a:avLst>
          </a:prstGeom>
          <a:solidFill>
            <a:srgbClr val="E9E6FA"/>
          </a:solidFill>
          <a:ln w="4763">
            <a:solidFill>
              <a:srgbClr val="BDB8DF"/>
            </a:solidFill>
            <a:prstDash val="solid"/>
          </a:ln>
        </p:spPr>
      </p:sp>
      <p:sp>
        <p:nvSpPr>
          <p:cNvPr id="14" name="Text 10"/>
          <p:cNvSpPr/>
          <p:nvPr/>
        </p:nvSpPr>
        <p:spPr>
          <a:xfrm>
            <a:off x="5968305" y="3935685"/>
            <a:ext cx="1187128" cy="148307"/>
          </a:xfrm>
          <a:prstGeom prst="rect">
            <a:avLst/>
          </a:prstGeom>
          <a:noFill/>
          <a:ln/>
        </p:spPr>
        <p:txBody>
          <a:bodyPr wrap="none" lIns="0" tIns="0" rIns="0" bIns="0" rtlCol="0" anchor="t"/>
          <a:lstStyle/>
          <a:p>
            <a:pPr algn="l" indent="0" marL="0">
              <a:lnSpc>
                <a:spcPct val="104000"/>
              </a:lnSpc>
              <a:buNone/>
            </a:pPr>
            <a:r>
              <a:rPr lang="en-US" sz="900" dirty="0">
                <a:solidFill>
                  <a:srgbClr val="2A2742"/>
                </a:solidFill>
                <a:latin typeface="Outfit ExtraBold" pitchFamily="34" charset="0"/>
                <a:ea typeface="Outfit ExtraBold" pitchFamily="34" charset="-122"/>
                <a:cs typeface="Outfit ExtraBold" pitchFamily="34" charset="-120"/>
              </a:rPr>
              <a:t>Intra-Day Peaks</a:t>
            </a:r>
            <a:endParaRPr lang="en-US" sz="900" dirty="0"/>
          </a:p>
        </p:txBody>
      </p:sp>
      <p:sp>
        <p:nvSpPr>
          <p:cNvPr id="15" name="Text 11"/>
          <p:cNvSpPr/>
          <p:nvPr/>
        </p:nvSpPr>
        <p:spPr>
          <a:xfrm>
            <a:off x="5968305" y="4127599"/>
            <a:ext cx="2248570" cy="402282"/>
          </a:xfrm>
          <a:prstGeom prst="rect">
            <a:avLst/>
          </a:prstGeom>
          <a:noFill/>
          <a:ln/>
        </p:spPr>
        <p:txBody>
          <a:bodyPr wrap="square" lIns="0" tIns="0" rIns="0" bIns="0" rtlCol="0" anchor="t">
            <a:normAutofit/>
          </a:bodyPr>
          <a:lstStyle/>
          <a:p>
            <a:pPr algn="l" indent="0" marL="0">
              <a:lnSpc>
                <a:spcPct val="118000"/>
              </a:lnSpc>
              <a:buNone/>
            </a:pPr>
            <a:r>
              <a:rPr lang="en-US" sz="700" dirty="0">
                <a:solidFill>
                  <a:srgbClr val="2A2742"/>
                </a:solidFill>
                <a:latin typeface="Arimo" pitchFamily="34" charset="0"/>
                <a:ea typeface="Arimo" pitchFamily="34" charset="-122"/>
                <a:cs typeface="Arimo" pitchFamily="34" charset="-120"/>
              </a:rPr>
              <a:t>Hour 21 (57.1%), Hour 11 (56.7%), Hour 12 (56.0%) — late-evening orders likely hit processing cutoffs; midday peaks reflect high-volume bottlenecks.</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903759" y="345653"/>
            <a:ext cx="1464990" cy="159990"/>
          </a:xfrm>
          <a:prstGeom prst="roundRect">
            <a:avLst>
              <a:gd name="adj" fmla="val 19539"/>
            </a:avLst>
          </a:prstGeom>
          <a:solidFill>
            <a:srgbClr val="D7D2F9"/>
          </a:solidFill>
          <a:ln/>
        </p:spPr>
      </p:sp>
      <p:sp>
        <p:nvSpPr>
          <p:cNvPr id="3" name="Text 1"/>
          <p:cNvSpPr/>
          <p:nvPr/>
        </p:nvSpPr>
        <p:spPr>
          <a:xfrm>
            <a:off x="959569" y="373559"/>
            <a:ext cx="1810569" cy="104180"/>
          </a:xfrm>
          <a:prstGeom prst="rect">
            <a:avLst/>
          </a:prstGeom>
          <a:noFill/>
          <a:ln/>
        </p:spPr>
        <p:txBody>
          <a:bodyPr wrap="none" lIns="0" tIns="0" rIns="0" bIns="0" rtlCol="0" anchor="t"/>
          <a:lstStyle/>
          <a:p>
            <a:pPr algn="l" indent="0" marL="0">
              <a:lnSpc>
                <a:spcPct val="117000"/>
              </a:lnSpc>
              <a:buNone/>
            </a:pPr>
            <a:r>
              <a:rPr lang="en-US" sz="550" dirty="0">
                <a:solidFill>
                  <a:srgbClr val="2A2742"/>
                </a:solidFill>
                <a:latin typeface="Arimo" pitchFamily="34" charset="0"/>
                <a:ea typeface="Arimo" pitchFamily="34" charset="-122"/>
                <a:cs typeface="Arimo" pitchFamily="34" charset="-120"/>
              </a:rPr>
              <a:t>RECOMMENDATIONS &amp; CONCLUSION</a:t>
            </a:r>
            <a:endParaRPr lang="en-US" sz="550" dirty="0"/>
          </a:p>
        </p:txBody>
      </p:sp>
      <p:sp>
        <p:nvSpPr>
          <p:cNvPr id="4" name="Text 2"/>
          <p:cNvSpPr/>
          <p:nvPr/>
        </p:nvSpPr>
        <p:spPr>
          <a:xfrm>
            <a:off x="903759" y="533549"/>
            <a:ext cx="3531691" cy="290736"/>
          </a:xfrm>
          <a:prstGeom prst="rect">
            <a:avLst/>
          </a:prstGeom>
          <a:noFill/>
          <a:ln/>
        </p:spPr>
        <p:txBody>
          <a:bodyPr wrap="none" lIns="0" tIns="0" rIns="0" bIns="0" rtlCol="0" anchor="t"/>
          <a:lstStyle/>
          <a:p>
            <a:pPr algn="l" indent="0" marL="0">
              <a:lnSpc>
                <a:spcPct val="104000"/>
              </a:lnSpc>
              <a:buNone/>
            </a:pPr>
            <a:r>
              <a:rPr lang="en-US" sz="1800" dirty="0">
                <a:solidFill>
                  <a:srgbClr val="231971"/>
                </a:solidFill>
                <a:latin typeface="Outfit ExtraBold" pitchFamily="34" charset="0"/>
                <a:ea typeface="Outfit ExtraBold" pitchFamily="34" charset="-122"/>
                <a:cs typeface="Outfit ExtraBold" pitchFamily="34" charset="-120"/>
              </a:rPr>
              <a:t>Strategic Recommendations</a:t>
            </a:r>
            <a:endParaRPr lang="en-US" sz="1800" dirty="0"/>
          </a:p>
        </p:txBody>
      </p:sp>
      <p:sp>
        <p:nvSpPr>
          <p:cNvPr id="5" name="Shape 3"/>
          <p:cNvSpPr/>
          <p:nvPr/>
        </p:nvSpPr>
        <p:spPr>
          <a:xfrm>
            <a:off x="903759" y="928911"/>
            <a:ext cx="7336408" cy="3294757"/>
          </a:xfrm>
          <a:prstGeom prst="roundRect">
            <a:avLst>
              <a:gd name="adj" fmla="val 1186"/>
            </a:avLst>
          </a:prstGeom>
          <a:noFill/>
          <a:ln w="4763">
            <a:solidFill>
              <a:srgbClr val="000000">
                <a:alpha val="8000"/>
              </a:srgbClr>
            </a:solidFill>
            <a:prstDash val="solid"/>
          </a:ln>
        </p:spPr>
      </p:sp>
      <p:sp>
        <p:nvSpPr>
          <p:cNvPr id="6" name="Text 4"/>
          <p:cNvSpPr/>
          <p:nvPr/>
        </p:nvSpPr>
        <p:spPr>
          <a:xfrm>
            <a:off x="1001688" y="980256"/>
            <a:ext cx="854869" cy="130225"/>
          </a:xfrm>
          <a:prstGeom prst="rect">
            <a:avLst/>
          </a:prstGeom>
          <a:noFill/>
          <a:ln/>
        </p:spPr>
        <p:txBody>
          <a:bodyPr wrap="none" lIns="0" tIns="0" rIns="0" bIns="0" rtlCol="0" anchor="t"/>
          <a:lstStyle/>
          <a:p>
            <a:pPr algn="l" indent="0" marL="0">
              <a:lnSpc>
                <a:spcPct val="117000"/>
              </a:lnSpc>
              <a:buNone/>
            </a:pPr>
            <a:r>
              <a:rPr lang="en-US" sz="700" b="1" dirty="0">
                <a:solidFill>
                  <a:srgbClr val="2A2742"/>
                </a:solidFill>
                <a:latin typeface="Arimo" pitchFamily="34" charset="0"/>
                <a:ea typeface="Arimo" pitchFamily="34" charset="-122"/>
                <a:cs typeface="Arimo" pitchFamily="34" charset="-120"/>
              </a:rPr>
              <a:t>#</a:t>
            </a:r>
            <a:endParaRPr lang="en-US" sz="700" dirty="0"/>
          </a:p>
        </p:txBody>
      </p:sp>
      <p:sp>
        <p:nvSpPr>
          <p:cNvPr id="7" name="Text 5"/>
          <p:cNvSpPr/>
          <p:nvPr/>
        </p:nvSpPr>
        <p:spPr>
          <a:xfrm>
            <a:off x="1590154" y="980256"/>
            <a:ext cx="1365424" cy="130225"/>
          </a:xfrm>
          <a:prstGeom prst="rect">
            <a:avLst/>
          </a:prstGeom>
          <a:noFill/>
          <a:ln/>
        </p:spPr>
        <p:txBody>
          <a:bodyPr wrap="none" lIns="0" tIns="0" rIns="0" bIns="0" rtlCol="0" anchor="t"/>
          <a:lstStyle/>
          <a:p>
            <a:pPr algn="l" indent="0" marL="0">
              <a:lnSpc>
                <a:spcPct val="117000"/>
              </a:lnSpc>
              <a:buNone/>
            </a:pPr>
            <a:r>
              <a:rPr lang="en-US" sz="700" b="1" dirty="0">
                <a:solidFill>
                  <a:srgbClr val="2A2742"/>
                </a:solidFill>
                <a:latin typeface="Arimo" pitchFamily="34" charset="0"/>
                <a:ea typeface="Arimo" pitchFamily="34" charset="-122"/>
                <a:cs typeface="Arimo" pitchFamily="34" charset="-120"/>
              </a:rPr>
              <a:t>Priority</a:t>
            </a:r>
            <a:endParaRPr lang="en-US" sz="700" dirty="0"/>
          </a:p>
        </p:txBody>
      </p:sp>
      <p:sp>
        <p:nvSpPr>
          <p:cNvPr id="8" name="Text 6"/>
          <p:cNvSpPr/>
          <p:nvPr/>
        </p:nvSpPr>
        <p:spPr>
          <a:xfrm>
            <a:off x="2689175" y="980256"/>
            <a:ext cx="3343647" cy="130225"/>
          </a:xfrm>
          <a:prstGeom prst="rect">
            <a:avLst/>
          </a:prstGeom>
          <a:noFill/>
          <a:ln/>
        </p:spPr>
        <p:txBody>
          <a:bodyPr wrap="none" lIns="0" tIns="0" rIns="0" bIns="0" rtlCol="0" anchor="t"/>
          <a:lstStyle/>
          <a:p>
            <a:pPr algn="l" indent="0" marL="0">
              <a:lnSpc>
                <a:spcPct val="117000"/>
              </a:lnSpc>
              <a:buNone/>
            </a:pPr>
            <a:r>
              <a:rPr lang="en-US" sz="700" b="1" dirty="0">
                <a:solidFill>
                  <a:srgbClr val="2A2742"/>
                </a:solidFill>
                <a:latin typeface="Arimo" pitchFamily="34" charset="0"/>
                <a:ea typeface="Arimo" pitchFamily="34" charset="-122"/>
                <a:cs typeface="Arimo" pitchFamily="34" charset="-120"/>
              </a:rPr>
              <a:t>Action</a:t>
            </a:r>
            <a:endParaRPr lang="en-US" sz="700" dirty="0"/>
          </a:p>
        </p:txBody>
      </p:sp>
      <p:sp>
        <p:nvSpPr>
          <p:cNvPr id="9" name="Text 7"/>
          <p:cNvSpPr/>
          <p:nvPr/>
        </p:nvSpPr>
        <p:spPr>
          <a:xfrm>
            <a:off x="5766420" y="980256"/>
            <a:ext cx="2833167" cy="130225"/>
          </a:xfrm>
          <a:prstGeom prst="rect">
            <a:avLst/>
          </a:prstGeom>
          <a:noFill/>
          <a:ln/>
        </p:spPr>
        <p:txBody>
          <a:bodyPr wrap="none" lIns="0" tIns="0" rIns="0" bIns="0" rtlCol="0" anchor="t"/>
          <a:lstStyle/>
          <a:p>
            <a:pPr algn="l" indent="0" marL="0">
              <a:lnSpc>
                <a:spcPct val="117000"/>
              </a:lnSpc>
              <a:buNone/>
            </a:pPr>
            <a:r>
              <a:rPr lang="en-US" sz="700" b="1" dirty="0">
                <a:solidFill>
                  <a:srgbClr val="2A2742"/>
                </a:solidFill>
                <a:latin typeface="Arimo" pitchFamily="34" charset="0"/>
                <a:ea typeface="Arimo" pitchFamily="34" charset="-122"/>
                <a:cs typeface="Arimo" pitchFamily="34" charset="-120"/>
              </a:rPr>
              <a:t>Rationale</a:t>
            </a:r>
            <a:endParaRPr lang="en-US" sz="700" dirty="0"/>
          </a:p>
        </p:txBody>
      </p:sp>
      <p:sp>
        <p:nvSpPr>
          <p:cNvPr id="10" name="Text 8"/>
          <p:cNvSpPr/>
          <p:nvPr/>
        </p:nvSpPr>
        <p:spPr>
          <a:xfrm>
            <a:off x="1001688" y="1208410"/>
            <a:ext cx="854869" cy="130225"/>
          </a:xfrm>
          <a:prstGeom prst="rect">
            <a:avLst/>
          </a:prstGeom>
          <a:noFill/>
          <a:ln/>
        </p:spPr>
        <p:txBody>
          <a:bodyPr wrap="none" lIns="0" tIns="0" rIns="0" bIns="0" rtlCol="0" anchor="t"/>
          <a:lstStyle/>
          <a:p>
            <a:pPr algn="l" indent="0" marL="0">
              <a:lnSpc>
                <a:spcPct val="117000"/>
              </a:lnSpc>
              <a:buNone/>
            </a:pPr>
            <a:r>
              <a:rPr lang="en-US" sz="700" dirty="0">
                <a:solidFill>
                  <a:srgbClr val="2A2742"/>
                </a:solidFill>
                <a:latin typeface="Arimo" pitchFamily="34" charset="0"/>
                <a:ea typeface="Arimo" pitchFamily="34" charset="-122"/>
                <a:cs typeface="Arimo" pitchFamily="34" charset="-120"/>
              </a:rPr>
              <a:t>1</a:t>
            </a:r>
            <a:endParaRPr lang="en-US" sz="700" dirty="0"/>
          </a:p>
        </p:txBody>
      </p:sp>
      <p:sp>
        <p:nvSpPr>
          <p:cNvPr id="11" name="Text 9"/>
          <p:cNvSpPr/>
          <p:nvPr/>
        </p:nvSpPr>
        <p:spPr>
          <a:xfrm>
            <a:off x="1590154" y="1208410"/>
            <a:ext cx="1365424" cy="130225"/>
          </a:xfrm>
          <a:prstGeom prst="rect">
            <a:avLst/>
          </a:prstGeom>
          <a:noFill/>
          <a:ln/>
        </p:spPr>
        <p:txBody>
          <a:bodyPr wrap="none" lIns="0" tIns="0" rIns="0" bIns="0" rtlCol="0" anchor="t"/>
          <a:lstStyle/>
          <a:p>
            <a:pPr algn="l" indent="0" marL="0">
              <a:lnSpc>
                <a:spcPct val="117000"/>
              </a:lnSpc>
              <a:buNone/>
            </a:pPr>
            <a:r>
              <a:rPr lang="en-US" sz="700" b="1" dirty="0">
                <a:solidFill>
                  <a:srgbClr val="2A2742"/>
                </a:solidFill>
                <a:latin typeface="Arimo" pitchFamily="34" charset="0"/>
                <a:ea typeface="Arimo" pitchFamily="34" charset="-122"/>
                <a:cs typeface="Arimo" pitchFamily="34" charset="-120"/>
              </a:rPr>
              <a:t>Critical</a:t>
            </a:r>
            <a:endParaRPr lang="en-US" sz="700" dirty="0"/>
          </a:p>
        </p:txBody>
      </p:sp>
      <p:sp>
        <p:nvSpPr>
          <p:cNvPr id="12" name="Text 10"/>
          <p:cNvSpPr/>
          <p:nvPr/>
        </p:nvSpPr>
        <p:spPr>
          <a:xfrm>
            <a:off x="2689175" y="1208410"/>
            <a:ext cx="3343647" cy="130225"/>
          </a:xfrm>
          <a:prstGeom prst="rect">
            <a:avLst/>
          </a:prstGeom>
          <a:noFill/>
          <a:ln/>
        </p:spPr>
        <p:txBody>
          <a:bodyPr wrap="none" lIns="0" tIns="0" rIns="0" bIns="0" rtlCol="0" anchor="t"/>
          <a:lstStyle/>
          <a:p>
            <a:pPr algn="l" indent="0" marL="0">
              <a:lnSpc>
                <a:spcPct val="117000"/>
              </a:lnSpc>
              <a:buNone/>
            </a:pPr>
            <a:r>
              <a:rPr lang="en-US" sz="700" dirty="0">
                <a:solidFill>
                  <a:srgbClr val="2A2742"/>
                </a:solidFill>
                <a:latin typeface="Arimo" pitchFamily="34" charset="0"/>
                <a:ea typeface="Arimo" pitchFamily="34" charset="-122"/>
                <a:cs typeface="Arimo" pitchFamily="34" charset="-120"/>
              </a:rPr>
              <a:t>Audit First &amp; Second Class shipping capacity</a:t>
            </a:r>
            <a:endParaRPr lang="en-US" sz="700" dirty="0"/>
          </a:p>
        </p:txBody>
      </p:sp>
      <p:sp>
        <p:nvSpPr>
          <p:cNvPr id="13" name="Text 11"/>
          <p:cNvSpPr/>
          <p:nvPr/>
        </p:nvSpPr>
        <p:spPr>
          <a:xfrm>
            <a:off x="5766420" y="1208410"/>
            <a:ext cx="2375967" cy="390674"/>
          </a:xfrm>
          <a:prstGeom prst="rect">
            <a:avLst/>
          </a:prstGeom>
          <a:noFill/>
          <a:ln/>
        </p:spPr>
        <p:txBody>
          <a:bodyPr wrap="square" lIns="0" tIns="0" rIns="0" bIns="0" rtlCol="0" anchor="t">
            <a:normAutofit/>
          </a:bodyPr>
          <a:lstStyle/>
          <a:p>
            <a:pPr algn="l" indent="0" marL="0">
              <a:lnSpc>
                <a:spcPct val="117000"/>
              </a:lnSpc>
              <a:buNone/>
            </a:pPr>
            <a:r>
              <a:rPr lang="en-US" sz="700" dirty="0">
                <a:solidFill>
                  <a:srgbClr val="2A2742"/>
                </a:solidFill>
                <a:latin typeface="Arimo" pitchFamily="34" charset="0"/>
                <a:ea typeface="Arimo" pitchFamily="34" charset="-122"/>
                <a:cs typeface="Arimo" pitchFamily="34" charset="-120"/>
              </a:rPr>
              <a:t>First Class: 100% delay; Second Class: 79.8%. Commission carrier SLA audit; consider suspending First Class and repricing both modes.</a:t>
            </a:r>
            <a:endParaRPr lang="en-US" sz="700" dirty="0"/>
          </a:p>
        </p:txBody>
      </p:sp>
      <p:sp>
        <p:nvSpPr>
          <p:cNvPr id="14" name="Text 12"/>
          <p:cNvSpPr/>
          <p:nvPr/>
        </p:nvSpPr>
        <p:spPr>
          <a:xfrm>
            <a:off x="1001688" y="1697013"/>
            <a:ext cx="854869" cy="130225"/>
          </a:xfrm>
          <a:prstGeom prst="rect">
            <a:avLst/>
          </a:prstGeom>
          <a:noFill/>
          <a:ln/>
        </p:spPr>
        <p:txBody>
          <a:bodyPr wrap="none" lIns="0" tIns="0" rIns="0" bIns="0" rtlCol="0" anchor="t"/>
          <a:lstStyle/>
          <a:p>
            <a:pPr algn="l" indent="0" marL="0">
              <a:lnSpc>
                <a:spcPct val="117000"/>
              </a:lnSpc>
              <a:buNone/>
            </a:pPr>
            <a:r>
              <a:rPr lang="en-US" sz="700" dirty="0">
                <a:solidFill>
                  <a:srgbClr val="2A2742"/>
                </a:solidFill>
                <a:latin typeface="Arimo" pitchFamily="34" charset="0"/>
                <a:ea typeface="Arimo" pitchFamily="34" charset="-122"/>
                <a:cs typeface="Arimo" pitchFamily="34" charset="-120"/>
              </a:rPr>
              <a:t>2</a:t>
            </a:r>
            <a:endParaRPr lang="en-US" sz="700" dirty="0"/>
          </a:p>
        </p:txBody>
      </p:sp>
      <p:sp>
        <p:nvSpPr>
          <p:cNvPr id="15" name="Text 13"/>
          <p:cNvSpPr/>
          <p:nvPr/>
        </p:nvSpPr>
        <p:spPr>
          <a:xfrm>
            <a:off x="1590154" y="1697013"/>
            <a:ext cx="1365424" cy="130225"/>
          </a:xfrm>
          <a:prstGeom prst="rect">
            <a:avLst/>
          </a:prstGeom>
          <a:noFill/>
          <a:ln/>
        </p:spPr>
        <p:txBody>
          <a:bodyPr wrap="none" lIns="0" tIns="0" rIns="0" bIns="0" rtlCol="0" anchor="t"/>
          <a:lstStyle/>
          <a:p>
            <a:pPr algn="l" indent="0" marL="0">
              <a:lnSpc>
                <a:spcPct val="117000"/>
              </a:lnSpc>
              <a:buNone/>
            </a:pPr>
            <a:r>
              <a:rPr lang="en-US" sz="700" b="1" dirty="0">
                <a:solidFill>
                  <a:srgbClr val="2A2742"/>
                </a:solidFill>
                <a:latin typeface="Arimo" pitchFamily="34" charset="0"/>
                <a:ea typeface="Arimo" pitchFamily="34" charset="-122"/>
                <a:cs typeface="Arimo" pitchFamily="34" charset="-120"/>
              </a:rPr>
              <a:t>High</a:t>
            </a:r>
            <a:endParaRPr lang="en-US" sz="700" dirty="0"/>
          </a:p>
        </p:txBody>
      </p:sp>
      <p:sp>
        <p:nvSpPr>
          <p:cNvPr id="16" name="Text 14"/>
          <p:cNvSpPr/>
          <p:nvPr/>
        </p:nvSpPr>
        <p:spPr>
          <a:xfrm>
            <a:off x="2689175" y="1697013"/>
            <a:ext cx="3343647" cy="130225"/>
          </a:xfrm>
          <a:prstGeom prst="rect">
            <a:avLst/>
          </a:prstGeom>
          <a:noFill/>
          <a:ln/>
        </p:spPr>
        <p:txBody>
          <a:bodyPr wrap="none" lIns="0" tIns="0" rIns="0" bIns="0" rtlCol="0" anchor="t"/>
          <a:lstStyle/>
          <a:p>
            <a:pPr algn="l" indent="0" marL="0">
              <a:lnSpc>
                <a:spcPct val="117000"/>
              </a:lnSpc>
              <a:buNone/>
            </a:pPr>
            <a:r>
              <a:rPr lang="en-US" sz="700" dirty="0">
                <a:solidFill>
                  <a:srgbClr val="2A2742"/>
                </a:solidFill>
                <a:latin typeface="Arimo" pitchFamily="34" charset="0"/>
                <a:ea typeface="Arimo" pitchFamily="34" charset="-122"/>
                <a:cs typeface="Arimo" pitchFamily="34" charset="-120"/>
              </a:rPr>
              <a:t>Resolve payment-processing bottlenecks</a:t>
            </a:r>
            <a:endParaRPr lang="en-US" sz="700" dirty="0"/>
          </a:p>
        </p:txBody>
      </p:sp>
      <p:sp>
        <p:nvSpPr>
          <p:cNvPr id="17" name="Text 15"/>
          <p:cNvSpPr/>
          <p:nvPr/>
        </p:nvSpPr>
        <p:spPr>
          <a:xfrm>
            <a:off x="5766420" y="1697013"/>
            <a:ext cx="2375967" cy="520898"/>
          </a:xfrm>
          <a:prstGeom prst="rect">
            <a:avLst/>
          </a:prstGeom>
          <a:noFill/>
          <a:ln/>
        </p:spPr>
        <p:txBody>
          <a:bodyPr wrap="square" lIns="0" tIns="0" rIns="0" bIns="0" rtlCol="0" anchor="t">
            <a:normAutofit/>
          </a:bodyPr>
          <a:lstStyle/>
          <a:p>
            <a:pPr algn="l" indent="0" marL="0">
              <a:lnSpc>
                <a:spcPct val="117000"/>
              </a:lnSpc>
              <a:buNone/>
            </a:pPr>
            <a:r>
              <a:rPr lang="en-US" sz="700" dirty="0">
                <a:solidFill>
                  <a:srgbClr val="2A2742"/>
                </a:solidFill>
                <a:latin typeface="Arimo" pitchFamily="34" charset="0"/>
                <a:ea typeface="Arimo" pitchFamily="34" charset="-122"/>
                <a:cs typeface="Arimo" pitchFamily="34" charset="-120"/>
              </a:rPr>
              <a:t>PAYMENT_REVIEW (80% delay in Central Africa) and PENDING_PAYMENT (55%) show elevated rates. Introduce automated escalation for reviews stalled beyond 2 hours.</a:t>
            </a:r>
            <a:endParaRPr lang="en-US" sz="700" dirty="0"/>
          </a:p>
        </p:txBody>
      </p:sp>
      <p:sp>
        <p:nvSpPr>
          <p:cNvPr id="18" name="Text 16"/>
          <p:cNvSpPr/>
          <p:nvPr/>
        </p:nvSpPr>
        <p:spPr>
          <a:xfrm>
            <a:off x="1001688" y="2315840"/>
            <a:ext cx="854869" cy="130225"/>
          </a:xfrm>
          <a:prstGeom prst="rect">
            <a:avLst/>
          </a:prstGeom>
          <a:noFill/>
          <a:ln/>
        </p:spPr>
        <p:txBody>
          <a:bodyPr wrap="none" lIns="0" tIns="0" rIns="0" bIns="0" rtlCol="0" anchor="t"/>
          <a:lstStyle/>
          <a:p>
            <a:pPr algn="l" indent="0" marL="0">
              <a:lnSpc>
                <a:spcPct val="117000"/>
              </a:lnSpc>
              <a:buNone/>
            </a:pPr>
            <a:r>
              <a:rPr lang="en-US" sz="700" dirty="0">
                <a:solidFill>
                  <a:srgbClr val="2A2742"/>
                </a:solidFill>
                <a:latin typeface="Arimo" pitchFamily="34" charset="0"/>
                <a:ea typeface="Arimo" pitchFamily="34" charset="-122"/>
                <a:cs typeface="Arimo" pitchFamily="34" charset="-120"/>
              </a:rPr>
              <a:t>3</a:t>
            </a:r>
            <a:endParaRPr lang="en-US" sz="700" dirty="0"/>
          </a:p>
        </p:txBody>
      </p:sp>
      <p:sp>
        <p:nvSpPr>
          <p:cNvPr id="19" name="Text 17"/>
          <p:cNvSpPr/>
          <p:nvPr/>
        </p:nvSpPr>
        <p:spPr>
          <a:xfrm>
            <a:off x="1590154" y="2315840"/>
            <a:ext cx="1365424" cy="130225"/>
          </a:xfrm>
          <a:prstGeom prst="rect">
            <a:avLst/>
          </a:prstGeom>
          <a:noFill/>
          <a:ln/>
        </p:spPr>
        <p:txBody>
          <a:bodyPr wrap="none" lIns="0" tIns="0" rIns="0" bIns="0" rtlCol="0" anchor="t"/>
          <a:lstStyle/>
          <a:p>
            <a:pPr algn="l" indent="0" marL="0">
              <a:lnSpc>
                <a:spcPct val="117000"/>
              </a:lnSpc>
              <a:buNone/>
            </a:pPr>
            <a:r>
              <a:rPr lang="en-US" sz="700" b="1" dirty="0">
                <a:solidFill>
                  <a:srgbClr val="2A2742"/>
                </a:solidFill>
                <a:latin typeface="Arimo" pitchFamily="34" charset="0"/>
                <a:ea typeface="Arimo" pitchFamily="34" charset="-122"/>
                <a:cs typeface="Arimo" pitchFamily="34" charset="-120"/>
              </a:rPr>
              <a:t>Medium</a:t>
            </a:r>
            <a:endParaRPr lang="en-US" sz="700" dirty="0"/>
          </a:p>
        </p:txBody>
      </p:sp>
      <p:sp>
        <p:nvSpPr>
          <p:cNvPr id="20" name="Text 18"/>
          <p:cNvSpPr/>
          <p:nvPr/>
        </p:nvSpPr>
        <p:spPr>
          <a:xfrm>
            <a:off x="2689175" y="2315840"/>
            <a:ext cx="3343647" cy="130225"/>
          </a:xfrm>
          <a:prstGeom prst="rect">
            <a:avLst/>
          </a:prstGeom>
          <a:noFill/>
          <a:ln/>
        </p:spPr>
        <p:txBody>
          <a:bodyPr wrap="none" lIns="0" tIns="0" rIns="0" bIns="0" rtlCol="0" anchor="t"/>
          <a:lstStyle/>
          <a:p>
            <a:pPr algn="l" indent="0" marL="0">
              <a:lnSpc>
                <a:spcPct val="117000"/>
              </a:lnSpc>
              <a:buNone/>
            </a:pPr>
            <a:r>
              <a:rPr lang="en-US" sz="700" dirty="0">
                <a:solidFill>
                  <a:srgbClr val="2A2742"/>
                </a:solidFill>
                <a:latin typeface="Arimo" pitchFamily="34" charset="0"/>
                <a:ea typeface="Arimo" pitchFamily="34" charset="-122"/>
                <a:cs typeface="Arimo" pitchFamily="34" charset="-120"/>
              </a:rPr>
              <a:t>Build seasonal surge-capacity plans</a:t>
            </a:r>
            <a:endParaRPr lang="en-US" sz="700" dirty="0"/>
          </a:p>
        </p:txBody>
      </p:sp>
      <p:sp>
        <p:nvSpPr>
          <p:cNvPr id="21" name="Text 19"/>
          <p:cNvSpPr/>
          <p:nvPr/>
        </p:nvSpPr>
        <p:spPr>
          <a:xfrm>
            <a:off x="5766420" y="2315840"/>
            <a:ext cx="2375967" cy="390674"/>
          </a:xfrm>
          <a:prstGeom prst="rect">
            <a:avLst/>
          </a:prstGeom>
          <a:noFill/>
          <a:ln/>
        </p:spPr>
        <p:txBody>
          <a:bodyPr wrap="square" lIns="0" tIns="0" rIns="0" bIns="0" rtlCol="0" anchor="t">
            <a:normAutofit/>
          </a:bodyPr>
          <a:lstStyle/>
          <a:p>
            <a:pPr algn="l" indent="0" marL="0">
              <a:lnSpc>
                <a:spcPct val="117000"/>
              </a:lnSpc>
              <a:buNone/>
            </a:pPr>
            <a:r>
              <a:rPr lang="en-US" sz="700" dirty="0">
                <a:solidFill>
                  <a:srgbClr val="2A2742"/>
                </a:solidFill>
                <a:latin typeface="Arimo" pitchFamily="34" charset="0"/>
                <a:ea typeface="Arimo" pitchFamily="34" charset="-122"/>
                <a:cs typeface="Arimo" pitchFamily="34" charset="-120"/>
              </a:rPr>
              <a:t>August, September (55.4%) and December (55.2%) are peak delay months. Establish pre-season capacity plans and inventory pre-positioning.</a:t>
            </a:r>
            <a:endParaRPr lang="en-US" sz="700" dirty="0"/>
          </a:p>
        </p:txBody>
      </p:sp>
      <p:sp>
        <p:nvSpPr>
          <p:cNvPr id="22" name="Text 20"/>
          <p:cNvSpPr/>
          <p:nvPr/>
        </p:nvSpPr>
        <p:spPr>
          <a:xfrm>
            <a:off x="1001688" y="2804443"/>
            <a:ext cx="854869" cy="130225"/>
          </a:xfrm>
          <a:prstGeom prst="rect">
            <a:avLst/>
          </a:prstGeom>
          <a:noFill/>
          <a:ln/>
        </p:spPr>
        <p:txBody>
          <a:bodyPr wrap="none" lIns="0" tIns="0" rIns="0" bIns="0" rtlCol="0" anchor="t"/>
          <a:lstStyle/>
          <a:p>
            <a:pPr algn="l" indent="0" marL="0">
              <a:lnSpc>
                <a:spcPct val="117000"/>
              </a:lnSpc>
              <a:buNone/>
            </a:pPr>
            <a:r>
              <a:rPr lang="en-US" sz="700" dirty="0">
                <a:solidFill>
                  <a:srgbClr val="2A2742"/>
                </a:solidFill>
                <a:latin typeface="Arimo" pitchFamily="34" charset="0"/>
                <a:ea typeface="Arimo" pitchFamily="34" charset="-122"/>
                <a:cs typeface="Arimo" pitchFamily="34" charset="-120"/>
              </a:rPr>
              <a:t>4</a:t>
            </a:r>
            <a:endParaRPr lang="en-US" sz="700" dirty="0"/>
          </a:p>
        </p:txBody>
      </p:sp>
      <p:sp>
        <p:nvSpPr>
          <p:cNvPr id="23" name="Text 21"/>
          <p:cNvSpPr/>
          <p:nvPr/>
        </p:nvSpPr>
        <p:spPr>
          <a:xfrm>
            <a:off x="1590154" y="2804443"/>
            <a:ext cx="1365424" cy="130225"/>
          </a:xfrm>
          <a:prstGeom prst="rect">
            <a:avLst/>
          </a:prstGeom>
          <a:noFill/>
          <a:ln/>
        </p:spPr>
        <p:txBody>
          <a:bodyPr wrap="none" lIns="0" tIns="0" rIns="0" bIns="0" rtlCol="0" anchor="t"/>
          <a:lstStyle/>
          <a:p>
            <a:pPr algn="l" indent="0" marL="0">
              <a:lnSpc>
                <a:spcPct val="117000"/>
              </a:lnSpc>
              <a:buNone/>
            </a:pPr>
            <a:r>
              <a:rPr lang="en-US" sz="700" b="1" dirty="0">
                <a:solidFill>
                  <a:srgbClr val="2A2742"/>
                </a:solidFill>
                <a:latin typeface="Arimo" pitchFamily="34" charset="0"/>
                <a:ea typeface="Arimo" pitchFamily="34" charset="-122"/>
                <a:cs typeface="Arimo" pitchFamily="34" charset="-120"/>
              </a:rPr>
              <a:t>Medium</a:t>
            </a:r>
            <a:endParaRPr lang="en-US" sz="700" dirty="0"/>
          </a:p>
        </p:txBody>
      </p:sp>
      <p:sp>
        <p:nvSpPr>
          <p:cNvPr id="24" name="Text 22"/>
          <p:cNvSpPr/>
          <p:nvPr/>
        </p:nvSpPr>
        <p:spPr>
          <a:xfrm>
            <a:off x="2689175" y="2804443"/>
            <a:ext cx="3343647" cy="130225"/>
          </a:xfrm>
          <a:prstGeom prst="rect">
            <a:avLst/>
          </a:prstGeom>
          <a:noFill/>
          <a:ln/>
        </p:spPr>
        <p:txBody>
          <a:bodyPr wrap="none" lIns="0" tIns="0" rIns="0" bIns="0" rtlCol="0" anchor="t"/>
          <a:lstStyle/>
          <a:p>
            <a:pPr algn="l" indent="0" marL="0">
              <a:lnSpc>
                <a:spcPct val="117000"/>
              </a:lnSpc>
              <a:buNone/>
            </a:pPr>
            <a:r>
              <a:rPr lang="en-US" sz="700" dirty="0">
                <a:solidFill>
                  <a:srgbClr val="2A2742"/>
                </a:solidFill>
                <a:latin typeface="Arimo" pitchFamily="34" charset="0"/>
                <a:ea typeface="Arimo" pitchFamily="34" charset="-122"/>
                <a:cs typeface="Arimo" pitchFamily="34" charset="-120"/>
              </a:rPr>
              <a:t>Default eligible orders to Standard Class</a:t>
            </a:r>
            <a:endParaRPr lang="en-US" sz="700" dirty="0"/>
          </a:p>
        </p:txBody>
      </p:sp>
      <p:sp>
        <p:nvSpPr>
          <p:cNvPr id="25" name="Text 23"/>
          <p:cNvSpPr/>
          <p:nvPr/>
        </p:nvSpPr>
        <p:spPr>
          <a:xfrm>
            <a:off x="5766420" y="2804443"/>
            <a:ext cx="2375967" cy="390674"/>
          </a:xfrm>
          <a:prstGeom prst="rect">
            <a:avLst/>
          </a:prstGeom>
          <a:noFill/>
          <a:ln/>
        </p:spPr>
        <p:txBody>
          <a:bodyPr wrap="square" lIns="0" tIns="0" rIns="0" bIns="0" rtlCol="0" anchor="t">
            <a:normAutofit/>
          </a:bodyPr>
          <a:lstStyle/>
          <a:p>
            <a:pPr algn="l" indent="0" marL="0">
              <a:lnSpc>
                <a:spcPct val="117000"/>
              </a:lnSpc>
              <a:buNone/>
            </a:pPr>
            <a:r>
              <a:rPr lang="en-US" sz="700" dirty="0">
                <a:solidFill>
                  <a:srgbClr val="2A2742"/>
                </a:solidFill>
                <a:latin typeface="Arimo" pitchFamily="34" charset="0"/>
                <a:ea typeface="Arimo" pitchFamily="34" charset="-122"/>
                <a:cs typeface="Arimo" pitchFamily="34" charset="-120"/>
              </a:rPr>
              <a:t>Standard Class delivers a markedly lower 39.8% delay rate. Re-evaluate shipping-mode assignment logic, particularly in underperforming regions.</a:t>
            </a:r>
            <a:endParaRPr lang="en-US" sz="700" dirty="0"/>
          </a:p>
        </p:txBody>
      </p:sp>
      <p:sp>
        <p:nvSpPr>
          <p:cNvPr id="26" name="Text 24"/>
          <p:cNvSpPr/>
          <p:nvPr/>
        </p:nvSpPr>
        <p:spPr>
          <a:xfrm>
            <a:off x="1001688" y="3293046"/>
            <a:ext cx="854869" cy="130225"/>
          </a:xfrm>
          <a:prstGeom prst="rect">
            <a:avLst/>
          </a:prstGeom>
          <a:noFill/>
          <a:ln/>
        </p:spPr>
        <p:txBody>
          <a:bodyPr wrap="none" lIns="0" tIns="0" rIns="0" bIns="0" rtlCol="0" anchor="t"/>
          <a:lstStyle/>
          <a:p>
            <a:pPr algn="l" indent="0" marL="0">
              <a:lnSpc>
                <a:spcPct val="117000"/>
              </a:lnSpc>
              <a:buNone/>
            </a:pPr>
            <a:r>
              <a:rPr lang="en-US" sz="700" dirty="0">
                <a:solidFill>
                  <a:srgbClr val="2A2742"/>
                </a:solidFill>
                <a:latin typeface="Arimo" pitchFamily="34" charset="0"/>
                <a:ea typeface="Arimo" pitchFamily="34" charset="-122"/>
                <a:cs typeface="Arimo" pitchFamily="34" charset="-120"/>
              </a:rPr>
              <a:t>5</a:t>
            </a:r>
            <a:endParaRPr lang="en-US" sz="700" dirty="0"/>
          </a:p>
        </p:txBody>
      </p:sp>
      <p:sp>
        <p:nvSpPr>
          <p:cNvPr id="27" name="Text 25"/>
          <p:cNvSpPr/>
          <p:nvPr/>
        </p:nvSpPr>
        <p:spPr>
          <a:xfrm>
            <a:off x="1590154" y="3293046"/>
            <a:ext cx="1365424" cy="130225"/>
          </a:xfrm>
          <a:prstGeom prst="rect">
            <a:avLst/>
          </a:prstGeom>
          <a:noFill/>
          <a:ln/>
        </p:spPr>
        <p:txBody>
          <a:bodyPr wrap="none" lIns="0" tIns="0" rIns="0" bIns="0" rtlCol="0" anchor="t"/>
          <a:lstStyle/>
          <a:p>
            <a:pPr algn="l" indent="0" marL="0">
              <a:lnSpc>
                <a:spcPct val="117000"/>
              </a:lnSpc>
              <a:buNone/>
            </a:pPr>
            <a:r>
              <a:rPr lang="en-US" sz="700" b="1" dirty="0">
                <a:solidFill>
                  <a:srgbClr val="2A2742"/>
                </a:solidFill>
                <a:latin typeface="Arimo" pitchFamily="34" charset="0"/>
                <a:ea typeface="Arimo" pitchFamily="34" charset="-122"/>
                <a:cs typeface="Arimo" pitchFamily="34" charset="-120"/>
              </a:rPr>
              <a:t>Medium</a:t>
            </a:r>
            <a:endParaRPr lang="en-US" sz="700" dirty="0"/>
          </a:p>
        </p:txBody>
      </p:sp>
      <p:sp>
        <p:nvSpPr>
          <p:cNvPr id="28" name="Text 26"/>
          <p:cNvSpPr/>
          <p:nvPr/>
        </p:nvSpPr>
        <p:spPr>
          <a:xfrm>
            <a:off x="2689175" y="3293046"/>
            <a:ext cx="3343647" cy="130225"/>
          </a:xfrm>
          <a:prstGeom prst="rect">
            <a:avLst/>
          </a:prstGeom>
          <a:noFill/>
          <a:ln/>
        </p:spPr>
        <p:txBody>
          <a:bodyPr wrap="none" lIns="0" tIns="0" rIns="0" bIns="0" rtlCol="0" anchor="t"/>
          <a:lstStyle/>
          <a:p>
            <a:pPr algn="l" indent="0" marL="0">
              <a:lnSpc>
                <a:spcPct val="117000"/>
              </a:lnSpc>
              <a:buNone/>
            </a:pPr>
            <a:r>
              <a:rPr lang="en-US" sz="700" dirty="0">
                <a:solidFill>
                  <a:srgbClr val="2A2742"/>
                </a:solidFill>
                <a:latin typeface="Arimo" pitchFamily="34" charset="0"/>
                <a:ea typeface="Arimo" pitchFamily="34" charset="-122"/>
                <a:cs typeface="Arimo" pitchFamily="34" charset="-120"/>
              </a:rPr>
              <a:t>Audit Outdoors and Golf in Central Africa</a:t>
            </a:r>
            <a:endParaRPr lang="en-US" sz="700" dirty="0"/>
          </a:p>
        </p:txBody>
      </p:sp>
      <p:sp>
        <p:nvSpPr>
          <p:cNvPr id="29" name="Text 27"/>
          <p:cNvSpPr/>
          <p:nvPr/>
        </p:nvSpPr>
        <p:spPr>
          <a:xfrm>
            <a:off x="5766420" y="3293046"/>
            <a:ext cx="2375967" cy="390674"/>
          </a:xfrm>
          <a:prstGeom prst="rect">
            <a:avLst/>
          </a:prstGeom>
          <a:noFill/>
          <a:ln/>
        </p:spPr>
        <p:txBody>
          <a:bodyPr wrap="square" lIns="0" tIns="0" rIns="0" bIns="0" rtlCol="0" anchor="t">
            <a:normAutofit/>
          </a:bodyPr>
          <a:lstStyle/>
          <a:p>
            <a:pPr algn="l" indent="0" marL="0">
              <a:lnSpc>
                <a:spcPct val="117000"/>
              </a:lnSpc>
              <a:buNone/>
            </a:pPr>
            <a:r>
              <a:rPr lang="en-US" sz="700" dirty="0">
                <a:solidFill>
                  <a:srgbClr val="2A2742"/>
                </a:solidFill>
                <a:latin typeface="Arimo" pitchFamily="34" charset="0"/>
                <a:ea typeface="Arimo" pitchFamily="34" charset="-122"/>
                <a:cs typeface="Arimo" pitchFamily="34" charset="-120"/>
              </a:rPr>
              <a:t>Outdoors (61.3%) and Golf (60.8%) show significantly elevated delay rates. Conduct warehouse-level audit of stock, pick-and-pack times, and carrier assignment.</a:t>
            </a:r>
            <a:endParaRPr lang="en-US" sz="700" dirty="0"/>
          </a:p>
        </p:txBody>
      </p:sp>
      <p:sp>
        <p:nvSpPr>
          <p:cNvPr id="30" name="Text 28"/>
          <p:cNvSpPr/>
          <p:nvPr/>
        </p:nvSpPr>
        <p:spPr>
          <a:xfrm>
            <a:off x="1001688" y="3781648"/>
            <a:ext cx="854869" cy="130225"/>
          </a:xfrm>
          <a:prstGeom prst="rect">
            <a:avLst/>
          </a:prstGeom>
          <a:noFill/>
          <a:ln/>
        </p:spPr>
        <p:txBody>
          <a:bodyPr wrap="none" lIns="0" tIns="0" rIns="0" bIns="0" rtlCol="0" anchor="t"/>
          <a:lstStyle/>
          <a:p>
            <a:pPr algn="l" indent="0" marL="0">
              <a:lnSpc>
                <a:spcPct val="117000"/>
              </a:lnSpc>
              <a:buNone/>
            </a:pPr>
            <a:r>
              <a:rPr lang="en-US" sz="700" dirty="0">
                <a:solidFill>
                  <a:srgbClr val="2A2742"/>
                </a:solidFill>
                <a:latin typeface="Arimo" pitchFamily="34" charset="0"/>
                <a:ea typeface="Arimo" pitchFamily="34" charset="-122"/>
                <a:cs typeface="Arimo" pitchFamily="34" charset="-120"/>
              </a:rPr>
              <a:t>6</a:t>
            </a:r>
            <a:endParaRPr lang="en-US" sz="700" dirty="0"/>
          </a:p>
        </p:txBody>
      </p:sp>
      <p:sp>
        <p:nvSpPr>
          <p:cNvPr id="31" name="Text 29"/>
          <p:cNvSpPr/>
          <p:nvPr/>
        </p:nvSpPr>
        <p:spPr>
          <a:xfrm>
            <a:off x="1590154" y="3781648"/>
            <a:ext cx="1365424" cy="130225"/>
          </a:xfrm>
          <a:prstGeom prst="rect">
            <a:avLst/>
          </a:prstGeom>
          <a:noFill/>
          <a:ln/>
        </p:spPr>
        <p:txBody>
          <a:bodyPr wrap="none" lIns="0" tIns="0" rIns="0" bIns="0" rtlCol="0" anchor="t"/>
          <a:lstStyle/>
          <a:p>
            <a:pPr algn="l" indent="0" marL="0">
              <a:lnSpc>
                <a:spcPct val="117000"/>
              </a:lnSpc>
              <a:buNone/>
            </a:pPr>
            <a:r>
              <a:rPr lang="en-US" sz="700" b="1" dirty="0">
                <a:solidFill>
                  <a:srgbClr val="2A2742"/>
                </a:solidFill>
                <a:latin typeface="Arimo" pitchFamily="34" charset="0"/>
                <a:ea typeface="Arimo" pitchFamily="34" charset="-122"/>
                <a:cs typeface="Arimo" pitchFamily="34" charset="-120"/>
              </a:rPr>
              <a:t>Low</a:t>
            </a:r>
            <a:endParaRPr lang="en-US" sz="700" dirty="0"/>
          </a:p>
        </p:txBody>
      </p:sp>
      <p:sp>
        <p:nvSpPr>
          <p:cNvPr id="32" name="Text 30"/>
          <p:cNvSpPr/>
          <p:nvPr/>
        </p:nvSpPr>
        <p:spPr>
          <a:xfrm>
            <a:off x="2689175" y="3781648"/>
            <a:ext cx="3343647" cy="130225"/>
          </a:xfrm>
          <a:prstGeom prst="rect">
            <a:avLst/>
          </a:prstGeom>
          <a:noFill/>
          <a:ln/>
        </p:spPr>
        <p:txBody>
          <a:bodyPr wrap="none" lIns="0" tIns="0" rIns="0" bIns="0" rtlCol="0" anchor="t"/>
          <a:lstStyle/>
          <a:p>
            <a:pPr algn="l" indent="0" marL="0">
              <a:lnSpc>
                <a:spcPct val="117000"/>
              </a:lnSpc>
              <a:buNone/>
            </a:pPr>
            <a:r>
              <a:rPr lang="en-US" sz="700" dirty="0">
                <a:solidFill>
                  <a:srgbClr val="2A2742"/>
                </a:solidFill>
                <a:latin typeface="Arimo" pitchFamily="34" charset="0"/>
                <a:ea typeface="Arimo" pitchFamily="34" charset="-122"/>
                <a:cs typeface="Arimo" pitchFamily="34" charset="-120"/>
              </a:rPr>
              <a:t>Reduce the loss-making order share (18.7%)</a:t>
            </a:r>
            <a:endParaRPr lang="en-US" sz="700" dirty="0"/>
          </a:p>
        </p:txBody>
      </p:sp>
      <p:sp>
        <p:nvSpPr>
          <p:cNvPr id="33" name="Text 31"/>
          <p:cNvSpPr/>
          <p:nvPr/>
        </p:nvSpPr>
        <p:spPr>
          <a:xfrm>
            <a:off x="5766420" y="3781648"/>
            <a:ext cx="2375967" cy="390674"/>
          </a:xfrm>
          <a:prstGeom prst="rect">
            <a:avLst/>
          </a:prstGeom>
          <a:noFill/>
          <a:ln/>
        </p:spPr>
        <p:txBody>
          <a:bodyPr wrap="square" lIns="0" tIns="0" rIns="0" bIns="0" rtlCol="0" anchor="t">
            <a:normAutofit/>
          </a:bodyPr>
          <a:lstStyle/>
          <a:p>
            <a:pPr algn="l" indent="0" marL="0">
              <a:lnSpc>
                <a:spcPct val="117000"/>
              </a:lnSpc>
              <a:buNone/>
            </a:pPr>
            <a:r>
              <a:rPr lang="en-US" sz="700" dirty="0">
                <a:solidFill>
                  <a:srgbClr val="2A2742"/>
                </a:solidFill>
                <a:latin typeface="Arimo" pitchFamily="34" charset="0"/>
                <a:ea typeface="Arimo" pitchFamily="34" charset="-122"/>
                <a:cs typeface="Arimo" pitchFamily="34" charset="-120"/>
              </a:rPr>
              <a:t>These orders warrant a separate pricing and discount review. Cross-reference with delay analysis to determine whether discounted orders are disproportionately late.</a:t>
            </a:r>
            <a:endParaRPr lang="en-US" sz="700" dirty="0"/>
          </a:p>
        </p:txBody>
      </p:sp>
      <p:sp>
        <p:nvSpPr>
          <p:cNvPr id="34" name="Text 32"/>
          <p:cNvSpPr/>
          <p:nvPr/>
        </p:nvSpPr>
        <p:spPr>
          <a:xfrm>
            <a:off x="1043285" y="4380533"/>
            <a:ext cx="7196882" cy="260449"/>
          </a:xfrm>
          <a:prstGeom prst="rect">
            <a:avLst/>
          </a:prstGeom>
          <a:noFill/>
          <a:ln/>
        </p:spPr>
        <p:txBody>
          <a:bodyPr wrap="square" lIns="0" tIns="0" rIns="0" bIns="0" rtlCol="0" anchor="t">
            <a:normAutofit/>
          </a:bodyPr>
          <a:lstStyle/>
          <a:p>
            <a:pPr algn="l" indent="0" marL="0">
              <a:lnSpc>
                <a:spcPct val="117000"/>
              </a:lnSpc>
              <a:buNone/>
            </a:pPr>
            <a:r>
              <a:rPr lang="en-US" sz="700" dirty="0">
                <a:solidFill>
                  <a:srgbClr val="2A2742"/>
                </a:solidFill>
                <a:latin typeface="Arimo" pitchFamily="34" charset="0"/>
                <a:ea typeface="Arimo" pitchFamily="34" charset="-122"/>
                <a:cs typeface="Arimo" pitchFamily="34" charset="-120"/>
              </a:rPr>
              <a:t>Addressing shipping-mode assignment and payment-review escalation alone has the potential to materially reduce the </a:t>
            </a:r>
            <a:pPr algn="l" indent="0" marL="0">
              <a:lnSpc>
                <a:spcPct val="117000"/>
              </a:lnSpc>
              <a:buNone/>
            </a:pPr>
            <a:r>
              <a:rPr lang="en-US" sz="700" b="1" dirty="0">
                <a:solidFill>
                  <a:srgbClr val="2A2742"/>
                </a:solidFill>
                <a:latin typeface="Arimo" pitchFamily="34" charset="0"/>
                <a:ea typeface="Arimo" pitchFamily="34" charset="-122"/>
                <a:cs typeface="Arimo" pitchFamily="34" charset="-120"/>
              </a:rPr>
              <a:t>54.71% late-delivery rate</a:t>
            </a:r>
            <a:pPr algn="l" indent="0" marL="0">
              <a:lnSpc>
                <a:spcPct val="117000"/>
              </a:lnSpc>
              <a:buNone/>
            </a:pPr>
            <a:r>
              <a:rPr lang="en-US" sz="700" dirty="0">
                <a:solidFill>
                  <a:srgbClr val="2A2742"/>
                </a:solidFill>
                <a:latin typeface="Arimo" pitchFamily="34" charset="0"/>
                <a:ea typeface="Arimo" pitchFamily="34" charset="-122"/>
                <a:cs typeface="Arimo" pitchFamily="34" charset="-120"/>
              </a:rPr>
              <a:t> and protect the </a:t>
            </a:r>
            <a:pPr algn="l" indent="0" marL="0">
              <a:lnSpc>
                <a:spcPct val="117000"/>
              </a:lnSpc>
              <a:buNone/>
            </a:pPr>
            <a:r>
              <a:rPr lang="en-US" sz="700" b="1" dirty="0">
                <a:solidFill>
                  <a:srgbClr val="2A2742"/>
                </a:solidFill>
                <a:latin typeface="Arimo" pitchFamily="34" charset="0"/>
                <a:ea typeface="Arimo" pitchFamily="34" charset="-122"/>
                <a:cs typeface="Arimo" pitchFamily="34" charset="-120"/>
              </a:rPr>
              <a:t>$2.1M of profit</a:t>
            </a:r>
            <a:pPr algn="l" indent="0" marL="0">
              <a:lnSpc>
                <a:spcPct val="117000"/>
              </a:lnSpc>
              <a:buNone/>
            </a:pPr>
            <a:r>
              <a:rPr lang="en-US" sz="700" dirty="0">
                <a:solidFill>
                  <a:srgbClr val="2A2742"/>
                </a:solidFill>
                <a:latin typeface="Arimo" pitchFamily="34" charset="0"/>
                <a:ea typeface="Arimo" pitchFamily="34" charset="-122"/>
                <a:cs typeface="Arimo" pitchFamily="34" charset="-120"/>
              </a:rPr>
              <a:t> currently at risk, while seasonal capacity planning and targeted departmental audits offer further incremental gains.</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2026-06-13T17:55:02Z</dcterms:created>
  <dcterms:modified xsi:type="dcterms:W3CDTF">2026-06-13T17:55:02Z</dcterms:modified>
</cp:coreProperties>
</file>